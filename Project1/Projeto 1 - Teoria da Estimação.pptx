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1" r:id="rId1"/>
  </p:sldMasterIdLst>
  <p:notesMasterIdLst>
    <p:notesMasterId r:id="rId25"/>
  </p:notesMasterIdLst>
  <p:sldIdLst>
    <p:sldId id="256" r:id="rId2"/>
    <p:sldId id="257" r:id="rId3"/>
    <p:sldId id="321" r:id="rId4"/>
    <p:sldId id="316" r:id="rId5"/>
    <p:sldId id="317" r:id="rId6"/>
    <p:sldId id="318" r:id="rId7"/>
    <p:sldId id="319" r:id="rId8"/>
    <p:sldId id="320" r:id="rId9"/>
    <p:sldId id="322" r:id="rId10"/>
    <p:sldId id="323" r:id="rId11"/>
    <p:sldId id="324" r:id="rId12"/>
    <p:sldId id="325" r:id="rId13"/>
    <p:sldId id="326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272" r:id="rId2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6"/>
    </p:embeddedFont>
    <p:embeddedFont>
      <p:font typeface="Commissioner" panose="020B0604020202020204" charset="0"/>
      <p:regular r:id="rId27"/>
      <p:bold r:id="rId28"/>
    </p:embeddedFont>
    <p:embeddedFont>
      <p:font typeface="Golos Text" panose="020B0604020202020204" charset="0"/>
      <p:regular r:id="rId29"/>
      <p:bold r:id="rId30"/>
    </p:embeddedFont>
    <p:embeddedFont>
      <p:font typeface="Golos Text SemiBold" panose="020B060402020202020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747bfd1ed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747bfd1ed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237828FD-96EE-2A0F-9D1D-7CE54E4DF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B1734572-BB44-F607-92BA-70F7F89267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213DCB88-3AEC-15CE-CFD8-BF80A892EB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0612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B0075E12-A0E5-1456-F65A-5418954DD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E7C62F44-0EA2-5133-D936-F2593D42F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4A68C2D4-96DD-FCDA-CCF0-C1C3D61EF9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4077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8D060DD3-D94C-E6B0-16E7-A18C4905B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3F3DDE81-2BFE-7098-E055-0C0739957D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1C96448F-B14B-592F-CF2F-0B4145469D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3414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4797FEFF-79C8-1A73-DD30-99C5F2EC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AC735AF4-1F46-6818-A076-6BFAE38862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00B2B219-A57F-5810-CAFD-43BF4D1226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8555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70C26845-7200-C4D9-49D4-A0F8A4F80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555BEEA7-E248-2F09-7513-F8248A9C63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5811182F-50D1-B3E9-54E3-DC64EA8AB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01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2117B73D-0924-9E64-0C45-AEDCEC4EC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BD79201E-81ED-E45A-6D8D-B95407449E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4E1E91CC-6368-25FC-8CCF-8A75C1409F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4717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21148F82-18C7-73F6-04AC-A0855378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BB04782F-D89A-9722-75AA-970AF921E1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61B2E1DB-58E0-C9A7-288C-388A878A0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6867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B7AB5A92-2FEF-5DE5-F672-94AA89F4A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B9621448-8275-F39E-31CC-5D00D69402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D071454B-044F-5B92-605E-A781D01AA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3130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C536F542-FB3C-F475-2414-AF06CA3E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92802B40-F7A6-9B3E-3876-71D76287E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52F1C25C-DE54-278C-C213-9E6AE0CC51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3403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12D2505B-D61C-E1A5-FE91-F0B8FB08D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C483CFCB-EEB7-59C9-875F-D88E3A39B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AB562301-A92A-712D-C926-683CD97ECC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2480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081FF505-A241-6A93-DDD0-F687B28C9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EA21B3A5-D6C8-1D2C-8A64-52360627E5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656FBFF4-42C6-0DAA-76F4-8549321F8A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0522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DE53DB1B-0056-0304-D28C-19205122E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19C7DD8B-251F-A218-E256-EFB7677857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D9F01345-34F4-0856-9C9A-E8035B49E8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05432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C0108305-2739-3036-B44D-D5E88CE8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C75DC057-E417-4F3C-A0A2-542783696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A27DD265-A103-40DA-CA14-1447E993AD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7626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8B84944C-EE7F-C643-B58C-267055A3F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2CC18141-1000-ED47-539B-320691BBAB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3A566BCF-9A44-52E9-832D-590468851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17027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905ED4C5-C984-D062-F0CF-B1B24AB4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38BAA901-9DDD-EF40-080D-87DF92E8D0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44DDAD48-7C98-02DD-5CD2-5533458CA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72771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6787D12F-C1D0-0D74-BF98-316C88C8B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B83D9933-E44C-0D58-256B-7BCD90254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293E133A-DD66-1079-877C-1A61450FE4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99620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AD7DE004-3360-9EED-3859-EE18EDB3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07F983B3-8153-C73A-8812-6B65660CB4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E3903BCE-F622-38A5-8372-428C9AE141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4482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00091DCC-1124-3450-F6F8-E327D0E33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969617F0-6D63-ED59-F881-5C7F14EBAF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C9079308-08F7-C066-92ED-7A712C3DAD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16963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AE64DA41-79F9-7FED-420D-44EEA8784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E11656B6-63FB-9BA5-F03C-E75F8A3396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2DFEC0FA-EC07-5EEE-6818-F9E1002518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72409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F0821141-AAEC-C990-B00D-6B231ACEC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AFE40300-1BE9-BE88-D465-6D2D8E986A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12207700-EBCD-7F80-779F-16DABFA095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14903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31ff7c0f5b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31ff7c0f5b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ik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" name="Google Shape;22;p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/>
          <p:nvPr/>
        </p:nvSpPr>
        <p:spPr>
          <a:xfrm flipH="1">
            <a:off x="0" y="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" name="Google Shape;28;p4"/>
          <p:cNvGrpSpPr/>
          <p:nvPr/>
        </p:nvGrpSpPr>
        <p:grpSpPr>
          <a:xfrm>
            <a:off x="150" y="0"/>
            <a:ext cx="8860050" cy="4876025"/>
            <a:chOff x="150" y="0"/>
            <a:chExt cx="8860050" cy="4876025"/>
          </a:xfrm>
        </p:grpSpPr>
        <p:cxnSp>
          <p:nvCxnSpPr>
            <p:cNvPr id="29" name="Google Shape;29;p4"/>
            <p:cNvCxnSpPr/>
            <p:nvPr/>
          </p:nvCxnSpPr>
          <p:spPr>
            <a:xfrm>
              <a:off x="8860200" y="0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 rot="10800000">
              <a:off x="150" y="4876025"/>
              <a:ext cx="8444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2954672" y="1519425"/>
            <a:ext cx="43122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2954649" y="3619500"/>
            <a:ext cx="43122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/>
          <p:nvPr/>
        </p:nvSpPr>
        <p:spPr>
          <a:xfrm flipH="1"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5"/>
          <p:cNvCxnSpPr/>
          <p:nvPr/>
        </p:nvCxnSpPr>
        <p:spPr>
          <a:xfrm rot="10800000">
            <a:off x="8864825" y="0"/>
            <a:ext cx="0" cy="413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" name="Google Shape;44;p6"/>
          <p:cNvGrpSpPr/>
          <p:nvPr/>
        </p:nvGrpSpPr>
        <p:grpSpPr>
          <a:xfrm>
            <a:off x="141900" y="-26"/>
            <a:ext cx="9002025" cy="4876051"/>
            <a:chOff x="141900" y="-26"/>
            <a:chExt cx="9002025" cy="4876051"/>
          </a:xfrm>
        </p:grpSpPr>
        <p:cxnSp>
          <p:nvCxnSpPr>
            <p:cNvPr id="45" name="Google Shape;45;p6"/>
            <p:cNvCxnSpPr/>
            <p:nvPr/>
          </p:nvCxnSpPr>
          <p:spPr>
            <a:xfrm>
              <a:off x="4576425" y="4876025"/>
              <a:ext cx="4567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46;p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713225" y="519075"/>
            <a:ext cx="2789700" cy="197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ubTitle" idx="1"/>
          </p:nvPr>
        </p:nvSpPr>
        <p:spPr>
          <a:xfrm>
            <a:off x="713225" y="2558881"/>
            <a:ext cx="2789700" cy="13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7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53;p7"/>
          <p:cNvGrpSpPr/>
          <p:nvPr/>
        </p:nvGrpSpPr>
        <p:grpSpPr>
          <a:xfrm>
            <a:off x="0" y="-300"/>
            <a:ext cx="3812275" cy="4608875"/>
            <a:chOff x="0" y="-300"/>
            <a:chExt cx="3812275" cy="4608875"/>
          </a:xfrm>
        </p:grpSpPr>
        <p:cxnSp>
          <p:nvCxnSpPr>
            <p:cNvPr id="54" name="Google Shape;54;p7"/>
            <p:cNvCxnSpPr/>
            <p:nvPr/>
          </p:nvCxnSpPr>
          <p:spPr>
            <a:xfrm rot="10800000">
              <a:off x="3812275" y="-300"/>
              <a:ext cx="0" cy="699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Google Shape;55;p7"/>
            <p:cNvCxnSpPr/>
            <p:nvPr/>
          </p:nvCxnSpPr>
          <p:spPr>
            <a:xfrm>
              <a:off x="0" y="4608575"/>
              <a:ext cx="338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1864800" y="1219025"/>
            <a:ext cx="5414400" cy="22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59" name="Google Shape;59;p8"/>
          <p:cNvSpPr/>
          <p:nvPr/>
        </p:nvSpPr>
        <p:spPr>
          <a:xfrm flipH="1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60;p8"/>
          <p:cNvGrpSpPr/>
          <p:nvPr/>
        </p:nvGrpSpPr>
        <p:grpSpPr>
          <a:xfrm flipH="1">
            <a:off x="-55200" y="539500"/>
            <a:ext cx="9199200" cy="4604000"/>
            <a:chOff x="-55375" y="539500"/>
            <a:chExt cx="9199200" cy="4604000"/>
          </a:xfrm>
        </p:grpSpPr>
        <p:cxnSp>
          <p:nvCxnSpPr>
            <p:cNvPr id="61" name="Google Shape;61;p8"/>
            <p:cNvCxnSpPr/>
            <p:nvPr/>
          </p:nvCxnSpPr>
          <p:spPr>
            <a:xfrm>
              <a:off x="-55375" y="4608575"/>
              <a:ext cx="5659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8"/>
            <p:cNvCxnSpPr/>
            <p:nvPr/>
          </p:nvCxnSpPr>
          <p:spPr>
            <a:xfrm>
              <a:off x="4502525" y="539500"/>
              <a:ext cx="464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8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1962900" y="829786"/>
            <a:ext cx="52182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1962900" y="2282714"/>
            <a:ext cx="5218200" cy="20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" name="Google Shape;69;p9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70" name="Google Shape;70;p9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" name="Google Shape;71;p9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713225" y="3946875"/>
            <a:ext cx="77175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 hasCustomPrompt="1"/>
          </p:nvPr>
        </p:nvSpPr>
        <p:spPr>
          <a:xfrm>
            <a:off x="1604400" y="1354558"/>
            <a:ext cx="5935200" cy="184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1"/>
          </p:nvPr>
        </p:nvSpPr>
        <p:spPr>
          <a:xfrm>
            <a:off x="1604400" y="3199142"/>
            <a:ext cx="5935200" cy="5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80" name="Google Shape;80;p11"/>
          <p:cNvSpPr/>
          <p:nvPr/>
        </p:nvSpPr>
        <p:spPr>
          <a:xfrm rot="10800000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 rot="10800000">
            <a:off x="-55325" y="0"/>
            <a:ext cx="9199325" cy="4604000"/>
            <a:chOff x="-55375" y="539500"/>
            <a:chExt cx="9199325" cy="4604000"/>
          </a:xfrm>
        </p:grpSpPr>
        <p:cxnSp>
          <p:nvCxnSpPr>
            <p:cNvPr id="82" name="Google Shape;82;p11"/>
            <p:cNvCxnSpPr/>
            <p:nvPr/>
          </p:nvCxnSpPr>
          <p:spPr>
            <a:xfrm>
              <a:off x="-55375" y="4608575"/>
              <a:ext cx="4563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" name="Google Shape;83;p11"/>
            <p:cNvCxnSpPr/>
            <p:nvPr/>
          </p:nvCxnSpPr>
          <p:spPr>
            <a:xfrm>
              <a:off x="2576350" y="539500"/>
              <a:ext cx="6567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11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5" name="Google Shape;85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2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3" hasCustomPrompt="1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4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5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6" hasCustomPrompt="1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7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8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9" hasCustomPrompt="1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3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4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15" hasCustomPrompt="1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cxnSp>
        <p:nvCxnSpPr>
          <p:cNvPr id="102" name="Google Shape;102;p1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783150" y="3920175"/>
            <a:ext cx="75777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"/>
          </p:nvPr>
        </p:nvSpPr>
        <p:spPr>
          <a:xfrm>
            <a:off x="783150" y="1722374"/>
            <a:ext cx="7577700" cy="212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cxnSp>
        <p:nvCxnSpPr>
          <p:cNvPr id="107" name="Google Shape;107;p14"/>
          <p:cNvCxnSpPr/>
          <p:nvPr/>
        </p:nvCxnSpPr>
        <p:spPr>
          <a:xfrm rot="10800000">
            <a:off x="75" y="4876025"/>
            <a:ext cx="82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10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 flipH="1">
            <a:off x="2052825" y="3573275"/>
            <a:ext cx="55791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13" name="Google Shape;113;p15"/>
          <p:cNvSpPr/>
          <p:nvPr/>
        </p:nvSpPr>
        <p:spPr>
          <a:xfrm flipH="1">
            <a:off x="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4" name="Google Shape;114;p15"/>
          <p:cNvCxnSpPr/>
          <p:nvPr/>
        </p:nvCxnSpPr>
        <p:spPr>
          <a:xfrm rot="10800000">
            <a:off x="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subTitle" idx="1"/>
          </p:nvPr>
        </p:nvSpPr>
        <p:spPr>
          <a:xfrm>
            <a:off x="713225" y="358247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575103"/>
            <a:ext cx="2400300" cy="8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3"/>
          </p:nvPr>
        </p:nvSpPr>
        <p:spPr>
          <a:xfrm>
            <a:off x="713225" y="2654575"/>
            <a:ext cx="24003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subTitle" idx="4"/>
          </p:nvPr>
        </p:nvSpPr>
        <p:spPr>
          <a:xfrm>
            <a:off x="6030475" y="358247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title" idx="5" hasCustomPrompt="1"/>
          </p:nvPr>
        </p:nvSpPr>
        <p:spPr>
          <a:xfrm>
            <a:off x="6030475" y="1575103"/>
            <a:ext cx="2400300" cy="8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3" name="Google Shape;123;p16"/>
          <p:cNvSpPr txBox="1">
            <a:spLocks noGrp="1"/>
          </p:cNvSpPr>
          <p:nvPr>
            <p:ph type="subTitle" idx="6"/>
          </p:nvPr>
        </p:nvSpPr>
        <p:spPr>
          <a:xfrm>
            <a:off x="6030475" y="2654575"/>
            <a:ext cx="24003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subTitle" idx="7"/>
          </p:nvPr>
        </p:nvSpPr>
        <p:spPr>
          <a:xfrm>
            <a:off x="3371850" y="358247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title" idx="8" hasCustomPrompt="1"/>
          </p:nvPr>
        </p:nvSpPr>
        <p:spPr>
          <a:xfrm>
            <a:off x="3371850" y="1575103"/>
            <a:ext cx="2400300" cy="8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6" name="Google Shape;126;p16"/>
          <p:cNvSpPr txBox="1">
            <a:spLocks noGrp="1"/>
          </p:cNvSpPr>
          <p:nvPr>
            <p:ph type="subTitle" idx="9"/>
          </p:nvPr>
        </p:nvSpPr>
        <p:spPr>
          <a:xfrm>
            <a:off x="3371850" y="2654575"/>
            <a:ext cx="24003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cxnSp>
        <p:nvCxnSpPr>
          <p:cNvPr id="127" name="Google Shape;127;p16"/>
          <p:cNvCxnSpPr/>
          <p:nvPr/>
        </p:nvCxnSpPr>
        <p:spPr>
          <a:xfrm rot="10800000">
            <a:off x="5035800" y="4797575"/>
            <a:ext cx="410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" name="Google Shape;128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_1_2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>
            <a:spLocks noGrp="1"/>
          </p:cNvSpPr>
          <p:nvPr>
            <p:ph type="subTitle" idx="1"/>
          </p:nvPr>
        </p:nvSpPr>
        <p:spPr>
          <a:xfrm>
            <a:off x="2370900" y="1278125"/>
            <a:ext cx="4402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title" hasCustomPrompt="1"/>
          </p:nvPr>
        </p:nvSpPr>
        <p:spPr>
          <a:xfrm>
            <a:off x="2370900" y="572825"/>
            <a:ext cx="44022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2" name="Google Shape;132;p17"/>
          <p:cNvSpPr txBox="1">
            <a:spLocks noGrp="1"/>
          </p:cNvSpPr>
          <p:nvPr>
            <p:ph type="subTitle" idx="2"/>
          </p:nvPr>
        </p:nvSpPr>
        <p:spPr>
          <a:xfrm>
            <a:off x="2370900" y="4087875"/>
            <a:ext cx="4402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title" idx="3" hasCustomPrompt="1"/>
          </p:nvPr>
        </p:nvSpPr>
        <p:spPr>
          <a:xfrm>
            <a:off x="2370900" y="3382575"/>
            <a:ext cx="44022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4" name="Google Shape;134;p17"/>
          <p:cNvSpPr txBox="1">
            <a:spLocks noGrp="1"/>
          </p:cNvSpPr>
          <p:nvPr>
            <p:ph type="subTitle" idx="4"/>
          </p:nvPr>
        </p:nvSpPr>
        <p:spPr>
          <a:xfrm>
            <a:off x="2370900" y="2683000"/>
            <a:ext cx="4402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title" idx="5" hasCustomPrompt="1"/>
          </p:nvPr>
        </p:nvSpPr>
        <p:spPr>
          <a:xfrm>
            <a:off x="2370900" y="1977700"/>
            <a:ext cx="44022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36" name="Google Shape;136;p17"/>
          <p:cNvGrpSpPr/>
          <p:nvPr/>
        </p:nvGrpSpPr>
        <p:grpSpPr>
          <a:xfrm>
            <a:off x="711250" y="-125"/>
            <a:ext cx="7719525" cy="5143625"/>
            <a:chOff x="711250" y="-125"/>
            <a:chExt cx="7719525" cy="5143625"/>
          </a:xfrm>
        </p:grpSpPr>
        <p:cxnSp>
          <p:nvCxnSpPr>
            <p:cNvPr id="137" name="Google Shape;137;p17"/>
            <p:cNvCxnSpPr/>
            <p:nvPr/>
          </p:nvCxnSpPr>
          <p:spPr>
            <a:xfrm rot="10800000">
              <a:off x="711250" y="2191500"/>
              <a:ext cx="0" cy="295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" name="Google Shape;138;p17"/>
            <p:cNvCxnSpPr/>
            <p:nvPr/>
          </p:nvCxnSpPr>
          <p:spPr>
            <a:xfrm rot="10800000">
              <a:off x="8430775" y="-125"/>
              <a:ext cx="0" cy="2191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9" name="Google Shape;13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_1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142" name="Google Shape;142;p18"/>
          <p:cNvGrpSpPr/>
          <p:nvPr/>
        </p:nvGrpSpPr>
        <p:grpSpPr>
          <a:xfrm flipH="1">
            <a:off x="0" y="4876025"/>
            <a:ext cx="9144000" cy="267600"/>
            <a:chOff x="0" y="4876025"/>
            <a:chExt cx="9144000" cy="267600"/>
          </a:xfrm>
        </p:grpSpPr>
        <p:sp>
          <p:nvSpPr>
            <p:cNvPr id="143" name="Google Shape;143;p18"/>
            <p:cNvSpPr/>
            <p:nvPr/>
          </p:nvSpPr>
          <p:spPr>
            <a:xfrm>
              <a:off x="0" y="4876025"/>
              <a:ext cx="9144000" cy="26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4" name="Google Shape;144;p1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5" name="Google Shape;145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_1_2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cxnSp>
        <p:nvCxnSpPr>
          <p:cNvPr id="148" name="Google Shape;148;p19"/>
          <p:cNvCxnSpPr/>
          <p:nvPr/>
        </p:nvCxnSpPr>
        <p:spPr>
          <a:xfrm>
            <a:off x="0" y="262400"/>
            <a:ext cx="228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" name="Google Shape;149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1_1_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0"/>
          <p:cNvGrpSpPr/>
          <p:nvPr/>
        </p:nvGrpSpPr>
        <p:grpSpPr>
          <a:xfrm>
            <a:off x="0" y="0"/>
            <a:ext cx="9144075" cy="5143500"/>
            <a:chOff x="0" y="0"/>
            <a:chExt cx="9144075" cy="5143500"/>
          </a:xfrm>
        </p:grpSpPr>
        <p:sp>
          <p:nvSpPr>
            <p:cNvPr id="152" name="Google Shape;152;p20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" name="Google Shape;154;p20"/>
          <p:cNvSpPr txBox="1">
            <a:spLocks noGrp="1"/>
          </p:cNvSpPr>
          <p:nvPr>
            <p:ph type="title"/>
          </p:nvPr>
        </p:nvSpPr>
        <p:spPr>
          <a:xfrm>
            <a:off x="4082225" y="544275"/>
            <a:ext cx="4224300" cy="12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2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subTitle" idx="1"/>
          </p:nvPr>
        </p:nvSpPr>
        <p:spPr>
          <a:xfrm>
            <a:off x="4082150" y="1747875"/>
            <a:ext cx="4224300" cy="25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grpSp>
        <p:nvGrpSpPr>
          <p:cNvPr id="156" name="Google Shape;156;p20"/>
          <p:cNvGrpSpPr/>
          <p:nvPr/>
        </p:nvGrpSpPr>
        <p:grpSpPr>
          <a:xfrm>
            <a:off x="150" y="539500"/>
            <a:ext cx="8430625" cy="4604000"/>
            <a:chOff x="150" y="539500"/>
            <a:chExt cx="8430625" cy="4604000"/>
          </a:xfrm>
        </p:grpSpPr>
        <p:cxnSp>
          <p:nvCxnSpPr>
            <p:cNvPr id="157" name="Google Shape;157;p2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Google Shape;158;p20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9" name="Google Shape;159;p20"/>
          <p:cNvSpPr>
            <a:spLocks noGrp="1"/>
          </p:cNvSpPr>
          <p:nvPr>
            <p:ph type="pic" idx="2"/>
          </p:nvPr>
        </p:nvSpPr>
        <p:spPr>
          <a:xfrm>
            <a:off x="592075" y="544275"/>
            <a:ext cx="3312000" cy="38841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body" idx="1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1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" name="Google Shape;165;p21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166" name="Google Shape;166;p21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" name="Google Shape;167;p21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8" name="Google Shape;168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_1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subTitle" idx="1"/>
          </p:nvPr>
        </p:nvSpPr>
        <p:spPr>
          <a:xfrm>
            <a:off x="948325" y="2112038"/>
            <a:ext cx="4863300" cy="18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22"/>
          <p:cNvSpPr/>
          <p:nvPr/>
        </p:nvSpPr>
        <p:spPr>
          <a:xfrm rot="10800000" flipH="1"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3" name="Google Shape;173;p22"/>
          <p:cNvGrpSpPr/>
          <p:nvPr/>
        </p:nvGrpSpPr>
        <p:grpSpPr>
          <a:xfrm rot="10800000" flipH="1">
            <a:off x="-55375" y="0"/>
            <a:ext cx="9199250" cy="4604000"/>
            <a:chOff x="-55375" y="539500"/>
            <a:chExt cx="9199250" cy="4604000"/>
          </a:xfrm>
        </p:grpSpPr>
        <p:cxnSp>
          <p:nvCxnSpPr>
            <p:cNvPr id="174" name="Google Shape;174;p22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" name="Google Shape;175;p22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" name="Google Shape;176;p2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7" name="Google Shape;177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_1_1_1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1262175" y="1023602"/>
            <a:ext cx="2890500" cy="16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subTitle" idx="1"/>
          </p:nvPr>
        </p:nvSpPr>
        <p:spPr>
          <a:xfrm>
            <a:off x="1262175" y="2702272"/>
            <a:ext cx="2890500" cy="14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3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2" name="Google Shape;182;p23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183" name="Google Shape;183;p23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p23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5" name="Google Shape;185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_1_1_1_1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4746800" y="1023600"/>
            <a:ext cx="2630100" cy="15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subTitle" idx="1"/>
          </p:nvPr>
        </p:nvSpPr>
        <p:spPr>
          <a:xfrm>
            <a:off x="4746800" y="2545055"/>
            <a:ext cx="2630100" cy="15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9" name="Google Shape;189;p24"/>
          <p:cNvGrpSpPr/>
          <p:nvPr/>
        </p:nvGrpSpPr>
        <p:grpSpPr>
          <a:xfrm flipH="1">
            <a:off x="0" y="0"/>
            <a:ext cx="9144075" cy="5143500"/>
            <a:chOff x="0" y="0"/>
            <a:chExt cx="9144075" cy="5143500"/>
          </a:xfrm>
        </p:grpSpPr>
        <p:grpSp>
          <p:nvGrpSpPr>
            <p:cNvPr id="190" name="Google Shape;190;p24"/>
            <p:cNvGrpSpPr/>
            <p:nvPr/>
          </p:nvGrpSpPr>
          <p:grpSpPr>
            <a:xfrm>
              <a:off x="0" y="0"/>
              <a:ext cx="9144075" cy="5143500"/>
              <a:chOff x="0" y="0"/>
              <a:chExt cx="9144075" cy="5143500"/>
            </a:xfrm>
          </p:grpSpPr>
          <p:sp>
            <p:nvSpPr>
              <p:cNvPr id="191" name="Google Shape;191;p24"/>
              <p:cNvSpPr/>
              <p:nvPr/>
            </p:nvSpPr>
            <p:spPr>
              <a:xfrm>
                <a:off x="4185975" y="4608575"/>
                <a:ext cx="4958100" cy="529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4"/>
              <p:cNvSpPr/>
              <p:nvPr/>
            </p:nvSpPr>
            <p:spPr>
              <a:xfrm>
                <a:off x="0" y="0"/>
                <a:ext cx="852900" cy="514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" name="Google Shape;193;p24"/>
            <p:cNvGrpSpPr/>
            <p:nvPr/>
          </p:nvGrpSpPr>
          <p:grpSpPr>
            <a:xfrm>
              <a:off x="150" y="539500"/>
              <a:ext cx="8430625" cy="4604000"/>
              <a:chOff x="150" y="539500"/>
              <a:chExt cx="8430625" cy="4604000"/>
            </a:xfrm>
          </p:grpSpPr>
          <p:cxnSp>
            <p:nvCxnSpPr>
              <p:cNvPr id="194" name="Google Shape;194;p24"/>
              <p:cNvCxnSpPr/>
              <p:nvPr/>
            </p:nvCxnSpPr>
            <p:spPr>
              <a:xfrm rot="10800000">
                <a:off x="8430775" y="805200"/>
                <a:ext cx="0" cy="433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" name="Google Shape;195;p24"/>
              <p:cNvCxnSpPr/>
              <p:nvPr/>
            </p:nvCxnSpPr>
            <p:spPr>
              <a:xfrm rot="10800000">
                <a:off x="150" y="539500"/>
                <a:ext cx="433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6" name="Google Shape;196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3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body" idx="1"/>
          </p:nvPr>
        </p:nvSpPr>
        <p:spPr>
          <a:xfrm>
            <a:off x="713225" y="1682875"/>
            <a:ext cx="3780900" cy="27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body" idx="2"/>
          </p:nvPr>
        </p:nvSpPr>
        <p:spPr>
          <a:xfrm>
            <a:off x="4651325" y="1682875"/>
            <a:ext cx="3780900" cy="27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subTitle" idx="3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5"/>
          <p:cNvSpPr/>
          <p:nvPr/>
        </p:nvSpPr>
        <p:spPr>
          <a:xfrm flipH="1">
            <a:off x="71340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25"/>
          <p:cNvGrpSpPr/>
          <p:nvPr/>
        </p:nvGrpSpPr>
        <p:grpSpPr>
          <a:xfrm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04" name="Google Shape;204;p25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25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6" name="Google Shape;206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3_1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6"/>
          <p:cNvSpPr txBox="1">
            <a:spLocks noGrp="1"/>
          </p:cNvSpPr>
          <p:nvPr>
            <p:ph type="subTitle" idx="1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6"/>
          <p:cNvSpPr txBox="1">
            <a:spLocks noGrp="1"/>
          </p:cNvSpPr>
          <p:nvPr>
            <p:ph type="subTitle" idx="2"/>
          </p:nvPr>
        </p:nvSpPr>
        <p:spPr>
          <a:xfrm>
            <a:off x="4836725" y="1964500"/>
            <a:ext cx="3200400" cy="18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6"/>
          <p:cNvSpPr/>
          <p:nvPr/>
        </p:nvSpPr>
        <p:spPr>
          <a:xfrm rot="10800000">
            <a:off x="8860200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2" name="Google Shape;212;p26"/>
          <p:cNvGrpSpPr/>
          <p:nvPr/>
        </p:nvGrpSpPr>
        <p:grpSpPr>
          <a:xfrm rot="10800000">
            <a:off x="-125" y="267450"/>
            <a:ext cx="9002225" cy="4876050"/>
            <a:chOff x="141900" y="-26"/>
            <a:chExt cx="9002225" cy="4876050"/>
          </a:xfrm>
        </p:grpSpPr>
        <p:cxnSp>
          <p:nvCxnSpPr>
            <p:cNvPr id="213" name="Google Shape;213;p26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" name="Google Shape;214;p2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5" name="Google Shape;215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subTitle" idx="1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subTitle" idx="2"/>
          </p:nvPr>
        </p:nvSpPr>
        <p:spPr>
          <a:xfrm>
            <a:off x="713263" y="2785375"/>
            <a:ext cx="2400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subTitle" idx="3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subTitle" idx="4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subTitle" idx="5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7"/>
          <p:cNvSpPr txBox="1">
            <a:spLocks noGrp="1"/>
          </p:cNvSpPr>
          <p:nvPr>
            <p:ph type="subTitle" idx="6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5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subTitle" idx="1"/>
          </p:nvPr>
        </p:nvSpPr>
        <p:spPr>
          <a:xfrm>
            <a:off x="865625" y="3694227"/>
            <a:ext cx="22626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subTitle" idx="2"/>
          </p:nvPr>
        </p:nvSpPr>
        <p:spPr>
          <a:xfrm>
            <a:off x="865625" y="3103975"/>
            <a:ext cx="22626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29" name="Google Shape;229;p28"/>
          <p:cNvSpPr txBox="1">
            <a:spLocks noGrp="1"/>
          </p:cNvSpPr>
          <p:nvPr>
            <p:ph type="subTitle" idx="3"/>
          </p:nvPr>
        </p:nvSpPr>
        <p:spPr>
          <a:xfrm>
            <a:off x="6015775" y="3694227"/>
            <a:ext cx="22626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subTitle" idx="4"/>
          </p:nvPr>
        </p:nvSpPr>
        <p:spPr>
          <a:xfrm>
            <a:off x="6015775" y="3103975"/>
            <a:ext cx="22626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31" name="Google Shape;231;p28"/>
          <p:cNvSpPr txBox="1">
            <a:spLocks noGrp="1"/>
          </p:cNvSpPr>
          <p:nvPr>
            <p:ph type="subTitle" idx="5"/>
          </p:nvPr>
        </p:nvSpPr>
        <p:spPr>
          <a:xfrm>
            <a:off x="3440700" y="3694227"/>
            <a:ext cx="22626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8"/>
          <p:cNvSpPr txBox="1">
            <a:spLocks noGrp="1"/>
          </p:cNvSpPr>
          <p:nvPr>
            <p:ph type="subTitle" idx="6"/>
          </p:nvPr>
        </p:nvSpPr>
        <p:spPr>
          <a:xfrm>
            <a:off x="3440700" y="3103975"/>
            <a:ext cx="22626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33" name="Google Shape;233;p28"/>
          <p:cNvSpPr/>
          <p:nvPr/>
        </p:nvSpPr>
        <p:spPr>
          <a:xfrm>
            <a:off x="0" y="4876025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" name="Google Shape;234;p28"/>
          <p:cNvGrpSpPr/>
          <p:nvPr/>
        </p:nvGrpSpPr>
        <p:grpSpPr>
          <a:xfrm>
            <a:off x="283800" y="-48"/>
            <a:ext cx="8860200" cy="5009873"/>
            <a:chOff x="283800" y="-48"/>
            <a:chExt cx="8860200" cy="5009873"/>
          </a:xfrm>
        </p:grpSpPr>
        <p:cxnSp>
          <p:nvCxnSpPr>
            <p:cNvPr id="235" name="Google Shape;235;p2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" name="Google Shape;236;p28"/>
            <p:cNvCxnSpPr/>
            <p:nvPr/>
          </p:nvCxnSpPr>
          <p:spPr>
            <a:xfrm rot="10800000">
              <a:off x="283800" y="-48"/>
              <a:ext cx="0" cy="2919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7" name="Google Shape;23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6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9"/>
          <p:cNvSpPr txBox="1">
            <a:spLocks noGrp="1"/>
          </p:cNvSpPr>
          <p:nvPr>
            <p:ph type="subTitle" idx="1"/>
          </p:nvPr>
        </p:nvSpPr>
        <p:spPr>
          <a:xfrm>
            <a:off x="1877250" y="1850002"/>
            <a:ext cx="23187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9"/>
          <p:cNvSpPr txBox="1">
            <a:spLocks noGrp="1"/>
          </p:cNvSpPr>
          <p:nvPr>
            <p:ph type="subTitle" idx="2"/>
          </p:nvPr>
        </p:nvSpPr>
        <p:spPr>
          <a:xfrm>
            <a:off x="1877250" y="1375200"/>
            <a:ext cx="23187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subTitle" idx="3"/>
          </p:nvPr>
        </p:nvSpPr>
        <p:spPr>
          <a:xfrm>
            <a:off x="1877250" y="3515601"/>
            <a:ext cx="23187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29"/>
          <p:cNvSpPr txBox="1">
            <a:spLocks noGrp="1"/>
          </p:cNvSpPr>
          <p:nvPr>
            <p:ph type="subTitle" idx="4"/>
          </p:nvPr>
        </p:nvSpPr>
        <p:spPr>
          <a:xfrm>
            <a:off x="1877250" y="3040799"/>
            <a:ext cx="23187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4" name="Google Shape;244;p29"/>
          <p:cNvSpPr txBox="1">
            <a:spLocks noGrp="1"/>
          </p:cNvSpPr>
          <p:nvPr>
            <p:ph type="subTitle" idx="5"/>
          </p:nvPr>
        </p:nvSpPr>
        <p:spPr>
          <a:xfrm>
            <a:off x="6112075" y="1850002"/>
            <a:ext cx="23187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9"/>
          <p:cNvSpPr txBox="1">
            <a:spLocks noGrp="1"/>
          </p:cNvSpPr>
          <p:nvPr>
            <p:ph type="subTitle" idx="6"/>
          </p:nvPr>
        </p:nvSpPr>
        <p:spPr>
          <a:xfrm>
            <a:off x="6112075" y="1375200"/>
            <a:ext cx="23187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6" name="Google Shape;246;p29"/>
          <p:cNvSpPr txBox="1">
            <a:spLocks noGrp="1"/>
          </p:cNvSpPr>
          <p:nvPr>
            <p:ph type="subTitle" idx="7"/>
          </p:nvPr>
        </p:nvSpPr>
        <p:spPr>
          <a:xfrm>
            <a:off x="6112075" y="3515601"/>
            <a:ext cx="23187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9"/>
          <p:cNvSpPr txBox="1">
            <a:spLocks noGrp="1"/>
          </p:cNvSpPr>
          <p:nvPr>
            <p:ph type="subTitle" idx="8"/>
          </p:nvPr>
        </p:nvSpPr>
        <p:spPr>
          <a:xfrm>
            <a:off x="6112075" y="3040799"/>
            <a:ext cx="23187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8" name="Google Shape;248;p29"/>
          <p:cNvSpPr/>
          <p:nvPr/>
        </p:nvSpPr>
        <p:spPr>
          <a:xfrm flipH="1">
            <a:off x="886020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9" name="Google Shape;249;p29"/>
          <p:cNvCxnSpPr/>
          <p:nvPr/>
        </p:nvCxnSpPr>
        <p:spPr>
          <a:xfrm rot="10800000">
            <a:off x="9002100" y="-26"/>
            <a:ext cx="0" cy="3958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6_1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0"/>
          <p:cNvSpPr txBox="1">
            <a:spLocks noGrp="1"/>
          </p:cNvSpPr>
          <p:nvPr>
            <p:ph type="subTitle" idx="1"/>
          </p:nvPr>
        </p:nvSpPr>
        <p:spPr>
          <a:xfrm>
            <a:off x="7132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0"/>
          <p:cNvSpPr txBox="1">
            <a:spLocks noGrp="1"/>
          </p:cNvSpPr>
          <p:nvPr>
            <p:ph type="subTitle" idx="2"/>
          </p:nvPr>
        </p:nvSpPr>
        <p:spPr>
          <a:xfrm>
            <a:off x="7132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55" name="Google Shape;255;p30"/>
          <p:cNvSpPr txBox="1">
            <a:spLocks noGrp="1"/>
          </p:cNvSpPr>
          <p:nvPr>
            <p:ph type="subTitle" idx="3"/>
          </p:nvPr>
        </p:nvSpPr>
        <p:spPr>
          <a:xfrm>
            <a:off x="60304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30"/>
          <p:cNvSpPr txBox="1">
            <a:spLocks noGrp="1"/>
          </p:cNvSpPr>
          <p:nvPr>
            <p:ph type="subTitle" idx="4"/>
          </p:nvPr>
        </p:nvSpPr>
        <p:spPr>
          <a:xfrm>
            <a:off x="60304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57" name="Google Shape;257;p30"/>
          <p:cNvSpPr txBox="1">
            <a:spLocks noGrp="1"/>
          </p:cNvSpPr>
          <p:nvPr>
            <p:ph type="subTitle" idx="5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30"/>
          <p:cNvSpPr txBox="1">
            <a:spLocks noGrp="1"/>
          </p:cNvSpPr>
          <p:nvPr>
            <p:ph type="subTitle" idx="6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59" name="Google Shape;259;p30"/>
          <p:cNvSpPr txBox="1">
            <a:spLocks noGrp="1"/>
          </p:cNvSpPr>
          <p:nvPr>
            <p:ph type="subTitle" idx="7"/>
          </p:nvPr>
        </p:nvSpPr>
        <p:spPr>
          <a:xfrm>
            <a:off x="2042531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30"/>
          <p:cNvSpPr txBox="1">
            <a:spLocks noGrp="1"/>
          </p:cNvSpPr>
          <p:nvPr>
            <p:ph type="subTitle" idx="8"/>
          </p:nvPr>
        </p:nvSpPr>
        <p:spPr>
          <a:xfrm>
            <a:off x="2042531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61" name="Google Shape;261;p30"/>
          <p:cNvSpPr txBox="1">
            <a:spLocks noGrp="1"/>
          </p:cNvSpPr>
          <p:nvPr>
            <p:ph type="subTitle" idx="9"/>
          </p:nvPr>
        </p:nvSpPr>
        <p:spPr>
          <a:xfrm>
            <a:off x="4701169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0"/>
          <p:cNvSpPr txBox="1">
            <a:spLocks noGrp="1"/>
          </p:cNvSpPr>
          <p:nvPr>
            <p:ph type="subTitle" idx="13"/>
          </p:nvPr>
        </p:nvSpPr>
        <p:spPr>
          <a:xfrm>
            <a:off x="4701169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63" name="Google Shape;263;p30"/>
          <p:cNvSpPr/>
          <p:nvPr/>
        </p:nvSpPr>
        <p:spPr>
          <a:xfrm>
            <a:off x="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4" name="Google Shape;264;p30"/>
          <p:cNvGrpSpPr/>
          <p:nvPr/>
        </p:nvGrpSpPr>
        <p:grpSpPr>
          <a:xfrm flipH="1"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65" name="Google Shape;265;p30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6" name="Google Shape;266;p30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7" name="Google Shape;267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subTitle" idx="1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31"/>
          <p:cNvSpPr txBox="1">
            <a:spLocks noGrp="1"/>
          </p:cNvSpPr>
          <p:nvPr>
            <p:ph type="subTitle" idx="2"/>
          </p:nvPr>
        </p:nvSpPr>
        <p:spPr>
          <a:xfrm>
            <a:off x="713244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72" name="Google Shape;272;p31"/>
          <p:cNvSpPr txBox="1">
            <a:spLocks noGrp="1"/>
          </p:cNvSpPr>
          <p:nvPr>
            <p:ph type="subTitle" idx="3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31"/>
          <p:cNvSpPr txBox="1">
            <a:spLocks noGrp="1"/>
          </p:cNvSpPr>
          <p:nvPr>
            <p:ph type="subTitle" idx="4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74" name="Google Shape;274;p31"/>
          <p:cNvSpPr txBox="1">
            <a:spLocks noGrp="1"/>
          </p:cNvSpPr>
          <p:nvPr>
            <p:ph type="subTitle" idx="5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31"/>
          <p:cNvSpPr txBox="1">
            <a:spLocks noGrp="1"/>
          </p:cNvSpPr>
          <p:nvPr>
            <p:ph type="subTitle" idx="6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76" name="Google Shape;276;p31"/>
          <p:cNvSpPr txBox="1">
            <a:spLocks noGrp="1"/>
          </p:cNvSpPr>
          <p:nvPr>
            <p:ph type="subTitle" idx="7"/>
          </p:nvPr>
        </p:nvSpPr>
        <p:spPr>
          <a:xfrm>
            <a:off x="713244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1"/>
          <p:cNvSpPr txBox="1">
            <a:spLocks noGrp="1"/>
          </p:cNvSpPr>
          <p:nvPr>
            <p:ph type="subTitle" idx="8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78" name="Google Shape;278;p31"/>
          <p:cNvSpPr txBox="1">
            <a:spLocks noGrp="1"/>
          </p:cNvSpPr>
          <p:nvPr>
            <p:ph type="subTitle" idx="9"/>
          </p:nvPr>
        </p:nvSpPr>
        <p:spPr>
          <a:xfrm>
            <a:off x="3371850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1"/>
          <p:cNvSpPr txBox="1">
            <a:spLocks noGrp="1"/>
          </p:cNvSpPr>
          <p:nvPr>
            <p:ph type="subTitle" idx="13"/>
          </p:nvPr>
        </p:nvSpPr>
        <p:spPr>
          <a:xfrm>
            <a:off x="3371850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80" name="Google Shape;280;p31"/>
          <p:cNvSpPr txBox="1">
            <a:spLocks noGrp="1"/>
          </p:cNvSpPr>
          <p:nvPr>
            <p:ph type="subTitle" idx="14"/>
          </p:nvPr>
        </p:nvSpPr>
        <p:spPr>
          <a:xfrm>
            <a:off x="6030456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31"/>
          <p:cNvSpPr txBox="1">
            <a:spLocks noGrp="1"/>
          </p:cNvSpPr>
          <p:nvPr>
            <p:ph type="subTitle" idx="15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82" name="Google Shape;282;p31"/>
          <p:cNvSpPr/>
          <p:nvPr/>
        </p:nvSpPr>
        <p:spPr>
          <a:xfrm rot="10800000" flipH="1">
            <a:off x="25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3" name="Google Shape;283;p31"/>
          <p:cNvGrpSpPr/>
          <p:nvPr/>
        </p:nvGrpSpPr>
        <p:grpSpPr>
          <a:xfrm rot="10800000" flipH="1">
            <a:off x="141925" y="267450"/>
            <a:ext cx="9001950" cy="4876050"/>
            <a:chOff x="141900" y="-26"/>
            <a:chExt cx="9001950" cy="4876050"/>
          </a:xfrm>
        </p:grpSpPr>
        <p:cxnSp>
          <p:nvCxnSpPr>
            <p:cNvPr id="284" name="Google Shape;284;p31"/>
            <p:cNvCxnSpPr/>
            <p:nvPr/>
          </p:nvCxnSpPr>
          <p:spPr>
            <a:xfrm>
              <a:off x="7907850" y="4876024"/>
              <a:ext cx="123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5" name="Google Shape;285;p31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6" name="Google Shape;28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>
            <a:spLocks noGrp="1"/>
          </p:cNvSpPr>
          <p:nvPr>
            <p:ph type="title"/>
          </p:nvPr>
        </p:nvSpPr>
        <p:spPr>
          <a:xfrm>
            <a:off x="2654700" y="530250"/>
            <a:ext cx="38346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89" name="Google Shape;289;p32"/>
          <p:cNvSpPr txBox="1">
            <a:spLocks noGrp="1"/>
          </p:cNvSpPr>
          <p:nvPr>
            <p:ph type="subTitle" idx="1"/>
          </p:nvPr>
        </p:nvSpPr>
        <p:spPr>
          <a:xfrm>
            <a:off x="2654700" y="2342156"/>
            <a:ext cx="3834600" cy="9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550" b="1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9pPr>
          </a:lstStyle>
          <a:p>
            <a:endParaRPr/>
          </a:p>
        </p:txBody>
      </p:sp>
      <p:sp>
        <p:nvSpPr>
          <p:cNvPr id="290" name="Google Shape;290;p32"/>
          <p:cNvSpPr txBox="1">
            <a:spLocks noGrp="1"/>
          </p:cNvSpPr>
          <p:nvPr>
            <p:ph type="subTitle" idx="2"/>
          </p:nvPr>
        </p:nvSpPr>
        <p:spPr>
          <a:xfrm>
            <a:off x="2654700" y="4111851"/>
            <a:ext cx="38346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9pPr>
          </a:lstStyle>
          <a:p>
            <a:endParaRPr/>
          </a:p>
        </p:txBody>
      </p:sp>
      <p:grpSp>
        <p:nvGrpSpPr>
          <p:cNvPr id="291" name="Google Shape;291;p32"/>
          <p:cNvGrpSpPr/>
          <p:nvPr/>
        </p:nvGrpSpPr>
        <p:grpSpPr>
          <a:xfrm>
            <a:off x="713688" y="2579400"/>
            <a:ext cx="8430488" cy="2564100"/>
            <a:chOff x="713688" y="2579400"/>
            <a:chExt cx="8430488" cy="2564100"/>
          </a:xfrm>
        </p:grpSpPr>
        <p:cxnSp>
          <p:nvCxnSpPr>
            <p:cNvPr id="292" name="Google Shape;292;p32"/>
            <p:cNvCxnSpPr/>
            <p:nvPr/>
          </p:nvCxnSpPr>
          <p:spPr>
            <a:xfrm>
              <a:off x="2839075" y="4876025"/>
              <a:ext cx="6305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3" name="Google Shape;293;p32"/>
            <p:cNvCxnSpPr/>
            <p:nvPr/>
          </p:nvCxnSpPr>
          <p:spPr>
            <a:xfrm rot="10800000">
              <a:off x="713688" y="2579400"/>
              <a:ext cx="0" cy="2564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4" name="Google Shape;294;p32"/>
          <p:cNvSpPr txBox="1"/>
          <p:nvPr/>
        </p:nvSpPr>
        <p:spPr>
          <a:xfrm>
            <a:off x="2654700" y="3304597"/>
            <a:ext cx="3834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includes icons, infographics &amp; images by </a:t>
            </a:r>
            <a:r>
              <a:rPr lang="en" sz="1200" b="1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295" name="Google Shape;295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7" name="Google Shape;297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9" name="Google Shape;299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" name="Google Shape;300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1" name="Google Shape;301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4" name="Google Shape;304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305" name="Google Shape;305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6" name="Google Shape;306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7" name="Google Shape;307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microsoft.com/office/2007/relationships/hdphoto" Target="../media/hdphoto2.wdp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 txBox="1">
            <a:spLocks noGrp="1"/>
          </p:cNvSpPr>
          <p:nvPr>
            <p:ph type="ctrTitle"/>
          </p:nvPr>
        </p:nvSpPr>
        <p:spPr>
          <a:xfrm>
            <a:off x="538025" y="1981972"/>
            <a:ext cx="7608300" cy="11795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50000"/>
              </a:lnSpc>
            </a:pP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r>
              <a:rPr lang="pt-BR" sz="2000" dirty="0">
                <a:solidFill>
                  <a:schemeClr val="tx1"/>
                </a:solidFill>
              </a:rPr>
              <a:t>Teoria da Estimação</a:t>
            </a:r>
            <a:br>
              <a:rPr lang="pt-BR" sz="1700" dirty="0">
                <a:solidFill>
                  <a:schemeClr val="tx1"/>
                </a:solidFill>
              </a:rPr>
            </a:br>
            <a:r>
              <a:rPr lang="pt-BR" sz="1400" dirty="0">
                <a:solidFill>
                  <a:schemeClr val="tx1"/>
                </a:solidFill>
              </a:rPr>
              <a:t>Trabalho 1</a:t>
            </a:r>
            <a:endParaRPr sz="1400" dirty="0">
              <a:solidFill>
                <a:schemeClr val="tx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313" name="Google Shape;313;p35"/>
          <p:cNvSpPr txBox="1">
            <a:spLocks noGrp="1"/>
          </p:cNvSpPr>
          <p:nvPr>
            <p:ph type="subTitle" idx="1"/>
          </p:nvPr>
        </p:nvSpPr>
        <p:spPr>
          <a:xfrm>
            <a:off x="1541075" y="3827725"/>
            <a:ext cx="5602200" cy="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João Vitor Nascimento Ramos</a:t>
            </a:r>
            <a:endParaRPr sz="1200"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dirty="0"/>
          </a:p>
        </p:txBody>
      </p:sp>
      <p:pic>
        <p:nvPicPr>
          <p:cNvPr id="314" name="Google Shape;3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6" y="686975"/>
            <a:ext cx="1032600" cy="133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0373" y="686975"/>
            <a:ext cx="2082072" cy="13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Visão Geral do Trabalho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Google Shape;321;p36"/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/>
                  <a:t>Simulação e Estimação – </a:t>
                </a:r>
                <a:r>
                  <a:rPr lang="pt-BR" dirty="0">
                    <a:solidFill>
                      <a:srgbClr val="980000"/>
                    </a:solidFill>
                  </a:rPr>
                  <a:t>Modelo SIR 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Introdução ao modelo SIR discreto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pt-BR" dirty="0"/>
                  <a:t>Simulação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rgbClr val="980000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i="1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rgbClr val="980000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i="1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rgbClr val="980000"/>
                    </a:solidFill>
                  </a:rPr>
                  <a:t>  </a:t>
                </a:r>
                <a:r>
                  <a:rPr lang="pt-BR" dirty="0"/>
                  <a:t>	​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pt-BR" dirty="0"/>
                  <a:t>Estimação de parâmetros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rgbClr val="98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dirty="0">
                    <a:solidFill>
                      <a:srgbClr val="980000"/>
                    </a:solidFill>
                  </a:rPr>
                  <a:t> e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rgbClr val="98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endParaRPr lang="pt-BR" dirty="0"/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pt-BR" dirty="0"/>
                  <a:t>Comparação entre estimativa completa e parcial</a:t>
                </a:r>
              </a:p>
              <a:p>
                <a:pPr algn="l">
                  <a:lnSpc>
                    <a:spcPct val="150000"/>
                  </a:lnSpc>
                  <a:buChar char="❏"/>
                </a:pPr>
                <a:r>
                  <a:rPr lang="pt-BR" dirty="0"/>
                  <a:t>Ajuste de Curvas e Regressão – </a:t>
                </a:r>
                <a:r>
                  <a:rPr lang="pt-BR" dirty="0">
                    <a:solidFill>
                      <a:srgbClr val="980000"/>
                    </a:solidFill>
                  </a:rPr>
                  <a:t>Renda vs. Consumo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pt-BR" dirty="0"/>
                  <a:t>Visualização dos dados de Renda e Consumo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pt-BR" dirty="0"/>
                  <a:t>Ajuste Linear e Quadrático via MMQ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pt-BR" dirty="0"/>
                  <a:t>Ajuste com Restrição 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pt-BR" dirty="0"/>
                  <a:t>Análise de erros e RMSE</a:t>
                </a:r>
                <a:endParaRPr dirty="0"/>
              </a:p>
            </p:txBody>
          </p:sp>
        </mc:Choice>
        <mc:Fallback>
          <p:sp>
            <p:nvSpPr>
              <p:cNvPr id="321" name="Google Shape;321;p3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8C9150CF-4EAE-2E67-2640-D173B3E37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CBCE3321-33C4-8BE0-782B-201DF9E5EA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Ferramentas de Implementação</a:t>
            </a:r>
            <a:endParaRPr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20D9CE80-306E-9D59-0AE2-696D4959CB8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50000"/>
              </a:lnSpc>
              <a:buChar char="❏"/>
            </a:pPr>
            <a:r>
              <a:rPr lang="pt-BR" dirty="0">
                <a:solidFill>
                  <a:srgbClr val="980000"/>
                </a:solidFill>
              </a:rPr>
              <a:t>Linguagem</a:t>
            </a:r>
            <a:r>
              <a:rPr lang="pt-BR" dirty="0"/>
              <a:t>: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/>
              <a:t>Python v3.12.10</a:t>
            </a:r>
          </a:p>
          <a:p>
            <a:pPr lvl="0" algn="l">
              <a:lnSpc>
                <a:spcPct val="150000"/>
              </a:lnSpc>
              <a:buChar char="❏"/>
            </a:pPr>
            <a:r>
              <a:rPr lang="pt-BR" dirty="0">
                <a:solidFill>
                  <a:srgbClr val="980000"/>
                </a:solidFill>
              </a:rPr>
              <a:t>Bibliotecas</a:t>
            </a:r>
            <a:r>
              <a:rPr lang="pt-BR" dirty="0"/>
              <a:t>: 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 err="1"/>
              <a:t>NumPy</a:t>
            </a:r>
            <a:endParaRPr lang="pt-BR" dirty="0"/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 err="1"/>
              <a:t>Matplotlib</a:t>
            </a:r>
            <a:endParaRPr lang="pt-BR" dirty="0"/>
          </a:p>
          <a:p>
            <a:pPr algn="l">
              <a:lnSpc>
                <a:spcPct val="150000"/>
              </a:lnSpc>
              <a:buChar char="❏"/>
            </a:pPr>
            <a:r>
              <a:rPr lang="pt-BR" dirty="0">
                <a:solidFill>
                  <a:srgbClr val="980000"/>
                </a:solidFill>
              </a:rPr>
              <a:t>Automação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 err="1"/>
              <a:t>Makefile</a:t>
            </a:r>
            <a:endParaRPr dirty="0"/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6162742F-F6E2-634A-D31B-E3DC41EA41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8A626C7-7FE5-3903-711E-C81DCCA73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8250" y1="29875" x2="58250" y2="298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50667" y="3772936"/>
            <a:ext cx="971550" cy="971550"/>
          </a:xfrm>
          <a:prstGeom prst="rect">
            <a:avLst/>
          </a:prstGeom>
        </p:spPr>
      </p:pic>
      <p:pic>
        <p:nvPicPr>
          <p:cNvPr id="5126" name="Picture 6" descr="Text makefile - free Icon PNG, SVG">
            <a:extLst>
              <a:ext uri="{FF2B5EF4-FFF2-40B4-BE49-F238E27FC236}">
                <a16:creationId xmlns:a16="http://schemas.microsoft.com/office/drawing/2014/main" id="{9047780A-D4DD-D0A8-1E6F-A8CF95CF0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17" y="3772936"/>
            <a:ext cx="97155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80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D30EFD06-DCF7-5A52-686E-E6C3879CF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6D41B3DA-A7C5-17D0-8778-B59DD114CA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1 : Modelo SIR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4483C8B5-2B14-71F3-4175-D04D1C6C842B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rgbClr val="980000"/>
                    </a:solidFill>
                  </a:rPr>
                  <a:t>Objetivo</a:t>
                </a:r>
                <a:r>
                  <a:rPr lang="pt-BR" dirty="0"/>
                  <a:t>: Simular a evolução de uma epidemia e estimar parâmetros de transmissão e recuperação.</a:t>
                </a:r>
              </a:p>
              <a:p>
                <a:pPr marL="139700" lvl="0" indent="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eqAr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dirty="0"/>
              </a:p>
              <a:p>
                <a:pPr marL="139700" lvl="0" indent="0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1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pt-BR" dirty="0"/>
                  <a:t>: População Suscetível</a:t>
                </a:r>
              </a:p>
              <a:p>
                <a:pPr marL="139700" lvl="0" indent="0" algn="just">
                  <a:lnSpc>
                    <a:spcPct val="150000"/>
                  </a:lnSpc>
                </a:pPr>
                <a:r>
                  <a:rPr lang="pt-BR" dirty="0"/>
                  <a:t>𝐼​: População Infectada</a:t>
                </a:r>
              </a:p>
              <a:p>
                <a:pPr marL="139700" lvl="0" indent="0" algn="just">
                  <a:lnSpc>
                    <a:spcPct val="150000"/>
                  </a:lnSpc>
                </a:pPr>
                <a:r>
                  <a:rPr lang="pt-BR" dirty="0"/>
                  <a:t>𝑅​: População Recuperada</a:t>
                </a:r>
              </a:p>
              <a:p>
                <a:pPr marL="139700" lvl="0" indent="0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pt-BR" dirty="0"/>
                  <a:t>Taxa de Infeção</a:t>
                </a:r>
              </a:p>
              <a:p>
                <a:pPr marL="139700" lvl="0" indent="0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pt-BR" dirty="0"/>
                  <a:t>Taxa de Recuperação</a:t>
                </a:r>
              </a:p>
            </p:txBody>
          </p:sp>
        </mc:Choice>
        <mc:Fallback xmlns="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4483C8B5-2B14-71F3-4175-D04D1C6C842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699E8D93-ADAF-39C6-EC5A-9F24A5F388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FBFB57A-E5ED-CA9E-670A-9E4E0E44A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335" y="3455939"/>
            <a:ext cx="3123390" cy="94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5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EE4C3189-6997-0FCD-FCE2-5486B053A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E9F6C64F-AE76-7C5B-3BB3-80E95F2748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1 : Configuração da Simulação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A6F638CE-F485-76C1-A166-6A9FA6276D1B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Taxa de infecção: 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𝛽=0.9</a:t>
                </a:r>
              </a:p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Taxa de recuperação: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1429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≈ </m:t>
                    </m:r>
                    <m:r>
                      <a:rPr lang="pt-BR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pt-BR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pt-BR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</m:oMath>
                </a14:m>
                <a:endParaRPr lang="pt-BR" dirty="0">
                  <a:solidFill>
                    <a:schemeClr val="tx1"/>
                  </a:solidFill>
                </a:endParaRPr>
              </a:p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Estado inicial: 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pt-BR" b="0" dirty="0"/>
              </a:p>
              <a:p>
                <a:pPr lvl="1" algn="l">
                  <a:lnSpc>
                    <a:spcPct val="150000"/>
                  </a:lnSpc>
                  <a:buChar char="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lvl="1" algn="l">
                  <a:lnSpc>
                    <a:spcPct val="150000"/>
                  </a:lnSpc>
                  <a:buChar char="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pt-BR" dirty="0">
                  <a:solidFill>
                    <a:schemeClr val="tx1"/>
                  </a:solidFill>
                </a:endParaRPr>
              </a:p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Período de simulação: 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350</m:t>
                    </m:r>
                  </m:oMath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A6F638CE-F485-76C1-A166-6A9FA6276D1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463453FA-88EA-41C6-02D9-A790F56C25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278837-09DA-4A10-361A-2EC1D916E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031" y="3641157"/>
            <a:ext cx="1108694" cy="110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4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FE7A0BA7-4EBE-72B4-F4EF-F99AB0673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DAF2AD1D-D3A1-88C8-185C-27EC54B425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1 : Evolução no Tempo</a:t>
            </a:r>
            <a:endParaRPr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4FF32805-3FFF-9811-AD9A-A6B4A27EC80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50000"/>
              </a:lnSpc>
              <a:buChar char="❏"/>
            </a:pPr>
            <a:r>
              <a:rPr lang="pt-BR" dirty="0">
                <a:solidFill>
                  <a:srgbClr val="980000"/>
                </a:solidFill>
              </a:rPr>
              <a:t>Destaque </a:t>
            </a:r>
            <a:r>
              <a:rPr lang="pt-BR" dirty="0">
                <a:solidFill>
                  <a:schemeClr val="tx1"/>
                </a:solidFill>
              </a:rPr>
              <a:t>: Observa-se a estabilização do sistema e o comportamento assintótico das frações de cada compartimento.</a:t>
            </a: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E2266451-2AB5-1B19-ACBD-8635553573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DBF6A16-4836-254C-5F7B-FFBA4E881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38" y="2035404"/>
            <a:ext cx="3822123" cy="2287826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4CFE1D3-DB29-8067-EABA-A7E9A73DEABB}"/>
                  </a:ext>
                </a:extLst>
              </p:cNvPr>
              <p:cNvSpPr txBox="1"/>
              <p:nvPr/>
            </p:nvSpPr>
            <p:spPr>
              <a:xfrm>
                <a:off x="2655794" y="4377018"/>
                <a:ext cx="384585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800" dirty="0"/>
                  <a:t>Figura 1: Evolução temporal das populações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800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800" b="0" i="1" dirty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pt-BR" sz="8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800" b="0" i="1" dirty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800" i="1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pt-BR" sz="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800" i="1" dirty="0">
                        <a:latin typeface="Cambria Math" panose="02040503050406030204" pitchFamily="18" charset="0"/>
                      </a:rPr>
                      <m:t>𝑒</m:t>
                    </m:r>
                    <m:sSub>
                      <m:sSubPr>
                        <m:ctrlPr>
                          <a:rPr lang="pt-BR" sz="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BR" sz="800" b="0" i="1" dirty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800" i="1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pt-BR" sz="800" dirty="0"/>
                  <a:t> ao longo de 350 passos.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4CFE1D3-DB29-8067-EABA-A7E9A73DE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794" y="4377018"/>
                <a:ext cx="3845859" cy="215444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884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15207E2F-90B0-987F-DC3B-E41A86F15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C35D7218-6695-C0F6-40E1-51DD2BED2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1 : Etapa de Transição</a:t>
            </a:r>
            <a:endParaRPr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F65C5A98-DDC0-C72D-8C34-E5470F0127D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213862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50000"/>
              </a:lnSpc>
              <a:buChar char="❏"/>
            </a:pPr>
            <a:r>
              <a:rPr lang="pt-BR" dirty="0">
                <a:solidFill>
                  <a:schemeClr val="tx1"/>
                </a:solidFill>
              </a:rPr>
              <a:t>A rapidez com que o sistema atinge o pico e inicia a estabilização demonstra a </a:t>
            </a:r>
            <a:r>
              <a:rPr lang="pt-BR" dirty="0">
                <a:solidFill>
                  <a:srgbClr val="980000"/>
                </a:solidFill>
              </a:rPr>
              <a:t>alta taxa de transmissibilidade</a:t>
            </a:r>
            <a:r>
              <a:rPr lang="pt-BR" dirty="0">
                <a:solidFill>
                  <a:schemeClr val="tx1"/>
                </a:solidFill>
              </a:rPr>
              <a:t>. </a:t>
            </a:r>
          </a:p>
          <a:p>
            <a:pPr lvl="0" algn="l">
              <a:lnSpc>
                <a:spcPct val="150000"/>
              </a:lnSpc>
              <a:buChar char="❏"/>
            </a:pPr>
            <a:r>
              <a:rPr lang="pt-BR" dirty="0">
                <a:solidFill>
                  <a:schemeClr val="tx1"/>
                </a:solidFill>
              </a:rPr>
              <a:t>O declínio da curva de infectados e a ascensão mais acentuada da curva de recuperados ocorrem de forma defasada, respeitando </a:t>
            </a:r>
            <a:r>
              <a:rPr lang="pt-BR" dirty="0">
                <a:solidFill>
                  <a:srgbClr val="980000"/>
                </a:solidFill>
              </a:rPr>
              <a:t>a baixa taxa de recuperação</a:t>
            </a:r>
            <a:r>
              <a:rPr lang="pt-BR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59D78662-1B8C-21BB-DD16-6934FDE8B6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D523B1-A4A6-61AB-2FB6-20EAC3F9AE19}"/>
              </a:ext>
            </a:extLst>
          </p:cNvPr>
          <p:cNvSpPr txBox="1"/>
          <p:nvPr/>
        </p:nvSpPr>
        <p:spPr>
          <a:xfrm>
            <a:off x="2649045" y="4573518"/>
            <a:ext cx="38458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Figura 2: Evolução das populações nos primeiros 50 passos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5D3F3B6-3CF3-C17B-E954-3258CD5E8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824" y="2650082"/>
            <a:ext cx="3212351" cy="1920248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716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6CD91E83-D01A-81A8-B41A-033F858FF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D4984A0A-D4EA-43C8-7BF7-AED81491BA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1 : Estimativa de Parâmetros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2A01A7D1-507F-682F-60B1-771B02F3CFFE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Estimando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rgbClr val="98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m:rPr>
                        <m:nor/>
                      </m:rPr>
                      <a:rPr lang="el-GR">
                        <a:solidFill>
                          <a:srgbClr val="98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pt-BR" b="0" i="0" smtClean="0">
                        <a:solidFill>
                          <a:srgbClr val="98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Taxa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de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Infec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çã</m:t>
                    </m:r>
                    <m:r>
                      <m:rPr>
                        <m:nor/>
                      </m:rPr>
                      <a:rPr lang="pt-BR" b="0" i="0" smtClean="0">
                        <a:solidFill>
                          <a:srgbClr val="980000"/>
                        </a:solidFill>
                      </a:rPr>
                      <m:t>o</m:t>
                    </m:r>
                    <m:r>
                      <m:rPr>
                        <m:nor/>
                      </m:rPr>
                      <a:rPr lang="pt-BR" b="0" i="0" smtClean="0">
                        <a:solidFill>
                          <a:srgbClr val="980000"/>
                        </a:solidFill>
                      </a:rPr>
                      <m:t>)</m:t>
                    </m:r>
                  </m:oMath>
                </a14:m>
                <a:endParaRPr lang="pt-BR" b="0" dirty="0">
                  <a:solidFill>
                    <a:srgbClr val="980000"/>
                  </a:solidFill>
                </a:endParaRP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pt-BR" dirty="0"/>
                  <a:t>Partimos da equação dos suscetíveis</a:t>
                </a:r>
              </a:p>
              <a:p>
                <a:pPr marL="139700" indent="0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rgbClr val="98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endParaRPr lang="pt-BR" dirty="0">
                  <a:solidFill>
                    <a:schemeClr val="tx1"/>
                  </a:solidFill>
                </a:endParaRPr>
              </a:p>
              <a:p>
                <a:pPr marL="9398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Definindo: </a:t>
                </a:r>
              </a:p>
              <a:p>
                <a:pPr marL="1397000" lvl="2" indent="-34290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pt-BR" dirty="0"/>
              </a:p>
              <a:p>
                <a:pPr marL="1397000" lvl="2" indent="-34290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pt-BR" dirty="0"/>
                  <a:t> </a:t>
                </a:r>
              </a:p>
              <a:p>
                <a:pPr marL="9398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temos um ajuste linear:</a:t>
                </a:r>
              </a:p>
              <a:p>
                <a:pPr marL="139700" indent="0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  <a:p>
                <a:pPr marL="9398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2A01A7D1-507F-682F-60B1-771B02F3CFF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68E708E6-2D79-E536-A169-D849BBEF10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745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C4D07263-1D99-8284-AEE1-9FEC3A0A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40FDAE70-E49A-84A0-7A4F-2F91A75677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1 : Estimativa de Parâmetros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3875C5F3-1248-21E3-0C89-77915EE6EB4F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Estimando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rgbClr val="98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m:rPr>
                        <m:nor/>
                      </m:rPr>
                      <a:rPr lang="el-GR">
                        <a:solidFill>
                          <a:srgbClr val="98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pt-BR" b="0" i="0" smtClean="0">
                        <a:solidFill>
                          <a:srgbClr val="98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Taxa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de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Infec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çã</m:t>
                    </m:r>
                    <m:r>
                      <m:rPr>
                        <m:nor/>
                      </m:rPr>
                      <a:rPr lang="pt-BR" b="0" i="0" smtClean="0">
                        <a:solidFill>
                          <a:srgbClr val="980000"/>
                        </a:solidFill>
                      </a:rPr>
                      <m:t>o</m:t>
                    </m:r>
                    <m:r>
                      <m:rPr>
                        <m:nor/>
                      </m:rPr>
                      <a:rPr lang="pt-BR" b="0" i="0" smtClean="0">
                        <a:solidFill>
                          <a:srgbClr val="980000"/>
                        </a:solidFill>
                      </a:rPr>
                      <m:t>)</m:t>
                    </m:r>
                  </m:oMath>
                </a14:m>
                <a:endParaRPr lang="pt-BR" b="0" dirty="0">
                  <a:solidFill>
                    <a:srgbClr val="980000"/>
                  </a:solidFill>
                </a:endParaRP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Sabendo que a solução analítica do mínimos quadrados é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i="1" dirty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 i="1" dirty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pt-BR" i="1" dirty="0">
                        <a:solidFill>
                          <a:srgbClr val="98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pt-BR" i="1" dirty="0">
                        <a:solidFill>
                          <a:srgbClr val="98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i="1" dirty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 i="1" dirty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pt-BR" i="1" dirty="0">
                        <a:solidFill>
                          <a:srgbClr val="98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: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Podemos enxergar as variáveis dessa maneira: </a:t>
                </a:r>
                <a:endParaRPr lang="pt-BR" dirty="0">
                  <a:solidFill>
                    <a:srgbClr val="980000"/>
                  </a:solidFill>
                </a:endParaRPr>
              </a:p>
              <a:p>
                <a:pPr lvl="1" algn="l">
                  <a:lnSpc>
                    <a:spcPct val="150000"/>
                  </a:lnSpc>
                  <a:buChar char="❏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lvl="1" algn="l">
                  <a:lnSpc>
                    <a:spcPct val="150000"/>
                  </a:lnSpc>
                  <a:buChar char="❏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lvl="1" algn="l">
                  <a:lnSpc>
                    <a:spcPct val="150000"/>
                  </a:lnSpc>
                  <a:buChar char="❏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lvl="1" algn="l">
                  <a:lnSpc>
                    <a:spcPct val="150000"/>
                  </a:lnSpc>
                  <a:buChar char="❏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Assim temos a solução analítica</a:t>
                </a:r>
              </a:p>
              <a:p>
                <a:pPr marL="596900" lvl="1" indent="0"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pt-BR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pt-B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pt-B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pt-B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pt-B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  <m:r>
                              <a:rPr lang="pt-B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)²</m:t>
                            </m:r>
                          </m:e>
                        </m:nary>
                      </m:den>
                    </m:f>
                  </m:oMath>
                </a14:m>
                <a:r>
                  <a:rPr lang="pt-BR" b="0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  <m:sup/>
                          <m:e>
                            <m:r>
                              <a:rPr lang="pt-B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pt-B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)(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²</m:t>
                            </m:r>
                          </m:e>
                        </m:nary>
                      </m:den>
                    </m:f>
                  </m:oMath>
                </a14:m>
                <a:endParaRPr lang="pt-BR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3875C5F3-1248-21E3-0C89-77915EE6EB4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DF9FD94B-747B-E571-7498-A40850974C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EC296BB-3E81-F067-89A6-3BBEE906D2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5742" y="2115670"/>
            <a:ext cx="2656664" cy="91215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7FD75F0-BC55-1E79-824A-F8606AD81E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6346" y="2534909"/>
            <a:ext cx="2871257" cy="98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1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B3DD0FD5-5F89-9E42-CB3A-008D0D4E7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98062D93-1AA0-5FC4-27F1-6A9C9C9195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1 : Estimativa de Parâmetros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515DBD52-FC22-39E5-8166-84B00F617AD9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Estimando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rgbClr val="98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m:rPr>
                        <m:nor/>
                      </m:rPr>
                      <a:rPr lang="el-GR">
                        <a:solidFill>
                          <a:srgbClr val="98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Taxa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de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pt-BR" b="0" i="0" smtClean="0">
                        <a:solidFill>
                          <a:srgbClr val="980000"/>
                        </a:solidFill>
                      </a:rPr>
                      <m:t>Recupera</m:t>
                    </m:r>
                    <m:r>
                      <m:rPr>
                        <m:nor/>
                      </m:rPr>
                      <a:rPr lang="pt-BR" b="0" i="0" smtClean="0">
                        <a:solidFill>
                          <a:srgbClr val="980000"/>
                        </a:solidFill>
                      </a:rPr>
                      <m:t>çã</m:t>
                    </m:r>
                    <m:r>
                      <m:rPr>
                        <m:nor/>
                      </m:rPr>
                      <a:rPr lang="pt-BR" b="0" i="0" smtClean="0">
                        <a:solidFill>
                          <a:srgbClr val="980000"/>
                        </a:solidFill>
                      </a:rPr>
                      <m:t>o</m:t>
                    </m:r>
                    <m:r>
                      <m:rPr>
                        <m:nor/>
                      </m:rPr>
                      <a:rPr lang="pt-BR">
                        <a:solidFill>
                          <a:srgbClr val="980000"/>
                        </a:solidFill>
                      </a:rPr>
                      <m:t>)</m:t>
                    </m:r>
                  </m:oMath>
                </a14:m>
                <a:endParaRPr lang="pt-BR" dirty="0">
                  <a:solidFill>
                    <a:srgbClr val="980000"/>
                  </a:solidFill>
                </a:endParaRPr>
              </a:p>
              <a:p>
                <a:pPr lvl="1" algn="l">
                  <a:lnSpc>
                    <a:spcPct val="150000"/>
                  </a:lnSpc>
                  <a:buFont typeface="Commissioner"/>
                  <a:buChar char="❏"/>
                </a:pPr>
                <a:r>
                  <a:rPr lang="pt-BR" dirty="0"/>
                  <a:t>Partimos da equação dos recuperados</a:t>
                </a:r>
              </a:p>
              <a:p>
                <a:pPr lvl="1" algn="l">
                  <a:lnSpc>
                    <a:spcPct val="150000"/>
                  </a:lnSpc>
                  <a:buFont typeface="Commissioner"/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De forma análoga a estimação de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rgbClr val="98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chegamos a :</a:t>
                </a:r>
              </a:p>
              <a:p>
                <a:pPr marL="596900" lvl="1" indent="0"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acc>
                    <m:r>
                      <a:rPr lang="pt-BR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pt-B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pt-B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pt-B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pt-B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pt-BR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  <m:r>
                              <a:rPr lang="pt-B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pt-B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²</m:t>
                            </m:r>
                          </m:e>
                        </m:nary>
                      </m:den>
                    </m:f>
                  </m:oMath>
                </a14:m>
                <a:r>
                  <a:rPr lang="pt-BR" b="0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  <m:sup/>
                          <m:e>
                            <m:r>
                              <a:rPr lang="pt-B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pt-BR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)(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pt-BR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²</m:t>
                            </m:r>
                          </m:e>
                        </m:nary>
                      </m:den>
                    </m:f>
                  </m:oMath>
                </a14:m>
                <a:endParaRPr lang="pt-BR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515DBD52-FC22-39E5-8166-84B00F617AD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F8B6C7A9-242B-DA94-24AB-999815316F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9904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6F98E9C5-76EE-EB65-4734-5DCDFF290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65A217F3-5976-796F-6116-56248DA073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1 : Estimativa de Parâmetros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7922773D-6967-F8CF-45A2-50E887B72B4E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Ao resolver aquelas equações com os dados simulados anteriormente, chegamos à: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= 0.9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el-GR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γ</a:t>
                </a:r>
                <a:r>
                  <a:rPr lang="pt-BR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 0.1429</a:t>
                </a:r>
              </a:p>
              <a:p>
                <a:pPr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 método de mínimos quadrados conseguiu recuperar os parâmetros teóricos de forma exata, </a:t>
                </a:r>
                <a:r>
                  <a:rPr lang="pt-BR" dirty="0">
                    <a:solidFill>
                      <a:srgbClr val="98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nesse contexto.</a:t>
                </a:r>
                <a:endParaRPr lang="pt-BR" dirty="0">
                  <a:solidFill>
                    <a:srgbClr val="980000"/>
                  </a:solidFill>
                </a:endParaRPr>
              </a:p>
            </p:txBody>
          </p:sp>
        </mc:Choice>
        <mc:Fallback xmlns="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7922773D-6967-F8CF-45A2-50E887B72B4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E7D22C63-D04F-06AD-CD41-22DD1C75D1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634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95EC69EA-F08B-CB4F-96D7-3BEEADC1F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68405E03-C38C-E5E4-F768-80EF45F5F9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800" dirty="0"/>
              <a:t>Parte 1 : Simulação com dados reduzidos</a:t>
            </a:r>
            <a:endParaRPr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B27ACB0B-57FC-CE88-2EE9-DDE9375BDE7F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/>
                  <a:t>Avaliar como a redução da quantidade de dados afeta a estimação dos parâmetros do modelo SIR.</a:t>
                </a:r>
              </a:p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/>
                  <a:t>Configuração: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pt-BR" dirty="0"/>
                  <a:t>Foram mantidas as mesmas condições iniciais e os mesmos parâmetros reais entretanto pegamos apenas os índices pares da simulação.</a:t>
                </a:r>
              </a:p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</a:rPr>
                  <a:t>Ao resolver aquelas equações com os dados simulados anteriormente, chegamos à: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= 1.7367</a:t>
                </a:r>
              </a:p>
              <a:p>
                <a:pPr lvl="1" algn="l">
                  <a:lnSpc>
                    <a:spcPct val="150000"/>
                  </a:lnSpc>
                  <a:buChar char="❏"/>
                </a:pPr>
                <a:r>
                  <a:rPr lang="el-GR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γ</a:t>
                </a:r>
                <a:r>
                  <a:rPr lang="pt-BR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 0.2835</a:t>
                </a:r>
              </a:p>
              <a:p>
                <a:pPr algn="l">
                  <a:lnSpc>
                    <a:spcPct val="150000"/>
                  </a:lnSpc>
                  <a:buChar char="❏"/>
                </a:pPr>
                <a:r>
                  <a:rPr lang="pt-BR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Observa-se que os valores estimados são aproximadamente o </a:t>
                </a:r>
                <a:r>
                  <a:rPr lang="pt-BR" dirty="0">
                    <a:solidFill>
                      <a:srgbClr val="98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dobro dos parâmetros originais</a:t>
                </a:r>
                <a:r>
                  <a:rPr lang="pt-BR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endParaRPr lang="pt-BR" dirty="0">
                  <a:solidFill>
                    <a:srgbClr val="98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  <a:buChar char="❏"/>
                </a:pPr>
                <a:endParaRPr lang="pt-BR" dirty="0"/>
              </a:p>
            </p:txBody>
          </p:sp>
        </mc:Choice>
        <mc:Fallback xmlns="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B27ACB0B-57FC-CE88-2EE9-DDE9375BDE7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B4F2876E-72A4-9247-9453-9496206514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1899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505CCFF0-1E21-65E3-F79B-14F97E6F0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87C88CD6-3D01-CE46-4469-D94E1AAE29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800" dirty="0"/>
              <a:t>Parte 1 : Simulação com dados reduzidos</a:t>
            </a:r>
            <a:endParaRPr sz="2800"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B5AB589C-5EE9-4AFE-F4E7-EB1FC7721A9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O resultado mais notável é que, ao simular o modelo SIR com os parâmetros ajustados as trajetórias preservam a tendência geral da dinâmica populacional, reproduzindo de forma fiel o crescimento inicial, o pico e o declínio das curvas</a:t>
            </a: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5BC41156-C876-792F-70AF-9FF83A669C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E1E89D6-2315-7716-DE0A-7322A12FC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15" y="2197776"/>
            <a:ext cx="3382368" cy="2259923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610B1D4-95B7-D12E-8895-052ABA85895C}"/>
              </a:ext>
            </a:extLst>
          </p:cNvPr>
          <p:cNvSpPr txBox="1"/>
          <p:nvPr/>
        </p:nvSpPr>
        <p:spPr>
          <a:xfrm>
            <a:off x="4976539" y="4457699"/>
            <a:ext cx="34541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/>
              <a:t>Figura 4: Evolução do erro absoluto entre a simulação original e a reconstrução com dados reduzidos.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5925ECC-8FCD-8995-AE1F-F77976CAC8B3}"/>
              </a:ext>
            </a:extLst>
          </p:cNvPr>
          <p:cNvSpPr txBox="1"/>
          <p:nvPr/>
        </p:nvSpPr>
        <p:spPr>
          <a:xfrm>
            <a:off x="930297" y="4455648"/>
            <a:ext cx="34541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/>
              <a:t>Figura 3: Comparação da evolução temporal da população de suscetíveis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D866A58-F0A4-8E88-1390-F1B67E6FB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539" y="2199827"/>
            <a:ext cx="3454186" cy="2255820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03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27D8C39D-5DDF-D929-69FE-D5E77C384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CD3BF57C-C9E8-0AED-45A0-E3C5F8047D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2 : Renda e Consumo </a:t>
            </a:r>
            <a:endParaRPr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B3A5F78C-07A6-5D4E-D628-155B3590AF0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50000"/>
              </a:lnSpc>
              <a:buChar char="❏"/>
            </a:pPr>
            <a:r>
              <a:rPr lang="pt-BR" dirty="0">
                <a:solidFill>
                  <a:srgbClr val="980000"/>
                </a:solidFill>
              </a:rPr>
              <a:t>Objetivo: </a:t>
            </a:r>
            <a:r>
              <a:rPr lang="pt-BR" dirty="0">
                <a:solidFill>
                  <a:schemeClr val="tx1"/>
                </a:solidFill>
              </a:rPr>
              <a:t>Modelar o comportamento do consumo em função da renda utilizando técnicas de regressão e ajuste de curvas.</a:t>
            </a: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FAE5DF6A-F3F8-5965-0D79-F6CD5BB611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04BCA79-5441-3F47-3081-1882C5B5E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316" y="2008461"/>
            <a:ext cx="2197313" cy="2217913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F28C7C1-CC5E-6847-5A49-B43074BD8A61}"/>
              </a:ext>
            </a:extLst>
          </p:cNvPr>
          <p:cNvSpPr txBox="1"/>
          <p:nvPr/>
        </p:nvSpPr>
        <p:spPr>
          <a:xfrm>
            <a:off x="3392902" y="4226374"/>
            <a:ext cx="23581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/>
              <a:t>Tabela 1: Dados de renda e consumo</a:t>
            </a:r>
          </a:p>
        </p:txBody>
      </p:sp>
    </p:spTree>
    <p:extLst>
      <p:ext uri="{BB962C8B-B14F-4D97-AF65-F5344CB8AC3E}">
        <p14:creationId xmlns:p14="http://schemas.microsoft.com/office/powerpoint/2010/main" val="3946196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8FF49A1A-ACEB-BF9E-E198-A62755CE1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0DDC4D23-6531-55D4-7A6C-7C23B32E22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2 : Formulação ajuste linear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15694779-CF5E-A030-2CB3-4EC48F212908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/>
                  <a:t>Para o ajuste linear, buscamos uma função da forma:</a:t>
                </a:r>
              </a:p>
              <a:p>
                <a:pPr marL="139700" lvl="0" indent="0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m:rPr>
                            <m:sty m:val="p"/>
                          </m:rP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solidFill>
                          <a:srgbClr val="980000"/>
                        </a:solidFill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pt-BR" b="0" i="1" smtClean="0">
                        <a:solidFill>
                          <a:srgbClr val="98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b="0" i="1" smtClean="0">
                        <a:solidFill>
                          <a:srgbClr val="98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>
                    <a:solidFill>
                      <a:srgbClr val="980000"/>
                    </a:solidFill>
                  </a:rPr>
                  <a:t> </a:t>
                </a:r>
              </a:p>
              <a:p>
                <a:pPr marL="425450" lvl="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O ajuste pode ser expresso na forma padrão:</a:t>
                </a:r>
              </a:p>
              <a:p>
                <a:pPr marL="139700" indent="0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pt-BR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dirty="0" smtClean="0">
                          <a:solidFill>
                            <a:srgbClr val="98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acc>
                        <m:accPr>
                          <m:chr m:val="̂"/>
                          <m:ctrl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pt-BR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  <m:r>
                        <a:rPr lang="pt-BR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pt-BR" dirty="0">
                          <a:solidFill>
                            <a:schemeClr val="tx1"/>
                          </a:solidFill>
                        </a:rPr>
                        <m:t> </m:t>
                      </m:r>
                      <m:sSup>
                        <m:sSupPr>
                          <m:ctrl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pt-BR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pt-BR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pt-BR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pt-BR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>
                    <a:solidFill>
                      <a:schemeClr val="tx1"/>
                    </a:solidFill>
                  </a:rPr>
                  <a:t>Organizando dessa maneira: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425450" lvl="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rgbClr val="980000"/>
                  </a:solidFill>
                </a:endParaRPr>
              </a:p>
            </p:txBody>
          </p:sp>
        </mc:Choice>
        <mc:Fallback xmlns="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15694779-CF5E-A030-2CB3-4EC48F21290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35F175AF-1F95-5C50-E188-5AFB2A5089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D6DA667-1A2B-7B6A-601C-2306F2D56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329" y="3004600"/>
            <a:ext cx="1643292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09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D37E3DEE-974F-9E1C-F61B-D4A78F3A6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CE95F56B-7926-3253-1A75-E0B2498104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2 : Formulação ajuste quadrático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EE3722A7-2EAD-AE4E-856B-8B927B81BBCD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/>
                  <a:t>Para o ajuste quadrático, buscamos uma função da forma:</a:t>
                </a:r>
              </a:p>
              <a:p>
                <a:pPr marL="139700" lvl="0" indent="0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m:rPr>
                            <m:sty m:val="p"/>
                          </m:rP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solidFill>
                          <a:srgbClr val="980000"/>
                        </a:solidFill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pt-BR" b="0" i="1" smtClean="0">
                        <a:solidFill>
                          <a:srgbClr val="98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b="0" i="1" smtClean="0">
                        <a:solidFill>
                          <a:srgbClr val="98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>
                    <a:solidFill>
                      <a:srgbClr val="980000"/>
                    </a:solidFill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i="1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98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pt-BR" i="1">
                        <a:solidFill>
                          <a:srgbClr val="98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b="0" i="1" smtClean="0">
                        <a:solidFill>
                          <a:srgbClr val="980000"/>
                        </a:solidFill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pt-BR" dirty="0">
                    <a:solidFill>
                      <a:srgbClr val="980000"/>
                    </a:solidFill>
                  </a:rPr>
                  <a:t> </a:t>
                </a:r>
              </a:p>
              <a:p>
                <a:pPr marL="425450" lvl="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O ajuste pode ser expresso na forma padrão:</a:t>
                </a:r>
              </a:p>
              <a:p>
                <a:pPr marL="139700" indent="0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pt-BR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dirty="0" smtClean="0">
                          <a:solidFill>
                            <a:srgbClr val="98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acc>
                        <m:accPr>
                          <m:chr m:val="̂"/>
                          <m:ctrl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pt-BR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  <m:r>
                        <a:rPr lang="pt-BR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pt-BR" dirty="0">
                          <a:solidFill>
                            <a:schemeClr val="tx1"/>
                          </a:solidFill>
                        </a:rPr>
                        <m:t> </m:t>
                      </m:r>
                      <m:sSup>
                        <m:sSupPr>
                          <m:ctrl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pt-BR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pt-BR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pt-BR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pt-BR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>
                    <a:solidFill>
                      <a:schemeClr val="tx1"/>
                    </a:solidFill>
                  </a:rPr>
                  <a:t>Organizando dessa maneira: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425450" lvl="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rgbClr val="980000"/>
                  </a:solidFill>
                </a:endParaRPr>
              </a:p>
            </p:txBody>
          </p:sp>
        </mc:Choice>
        <mc:Fallback xmlns="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EE3722A7-2EAD-AE4E-856B-8B927B81BBC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3ED0B7DC-C955-98C8-3E48-C08CF82596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8041B32-9BB1-955B-0798-46FC0E483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507" y="3039438"/>
            <a:ext cx="1474991" cy="171041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985B0A1-5AC8-5742-ED4E-237372E464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8498" y="3039438"/>
            <a:ext cx="527103" cy="175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1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63B23039-74F5-BC54-EA55-195417B80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50876A1E-96E0-1E92-8C6D-02B5AD0F94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2 : Resultados dos ajustes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083D9A9D-9B63-6CE5-2E88-1CDBDD8F31F9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/>
                  <a:t>Resolvendo as equações chegamos aos seguintes resultados para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pt-B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lang="pt-BR" dirty="0"/>
                  <a:t> </a:t>
                </a:r>
                <a:endParaRPr lang="pt-BR" dirty="0">
                  <a:solidFill>
                    <a:schemeClr val="tx1"/>
                  </a:solidFill>
                </a:endParaRP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>
                    <a:solidFill>
                      <a:schemeClr val="tx1"/>
                    </a:solidFill>
                  </a:rPr>
                  <a:t>Para o ajuste linear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>
                    <a:solidFill>
                      <a:schemeClr val="tx1"/>
                    </a:solidFill>
                  </a:rPr>
                  <a:t>Para o ajuste quadrático 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882650" lvl="1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425450" lvl="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rgbClr val="980000"/>
                  </a:solidFill>
                </a:endParaRPr>
              </a:p>
            </p:txBody>
          </p:sp>
        </mc:Choice>
        <mc:Fallback xmlns="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083D9A9D-9B63-6CE5-2E88-1CDBDD8F31F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E5BA6AF1-B86F-9DBC-D3B4-2F1D712451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6D682E8-38EE-053C-C360-363A5F950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433" y="1998698"/>
            <a:ext cx="1860734" cy="57305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E1E5812-0341-2D3F-2920-188363DA1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75" y="2151855"/>
            <a:ext cx="2838846" cy="26673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C802496-5C64-BFE3-7286-F1A0AE7EB1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433" y="3119528"/>
            <a:ext cx="1876464" cy="57305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2AC4EA99-2E1F-0F67-0924-54EA55E105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975" y="3282211"/>
            <a:ext cx="3496163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0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7DA98B4F-4764-68A1-33B1-527671B6B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0225EB71-D2F3-C3A6-6D8A-C9261135AE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2 : Análise Gráfica e Erros</a:t>
            </a:r>
            <a:endParaRPr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F26F1265-CC00-40E9-D02D-335E89EBD58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/>
                </a:solidFill>
              </a:rPr>
              <a:t>Observa-se que o erro relativo atinge valores elevados nos pontos 7 e 8 em ambos os modelos, indicando a presença de </a:t>
            </a:r>
            <a:r>
              <a:rPr lang="pt-BR" dirty="0">
                <a:solidFill>
                  <a:srgbClr val="980000"/>
                </a:solidFill>
              </a:rPr>
              <a:t>outliers</a:t>
            </a:r>
            <a:r>
              <a:rPr lang="pt-BR" dirty="0">
                <a:solidFill>
                  <a:schemeClr val="tx1"/>
                </a:solidFill>
              </a:rPr>
              <a:t>.</a:t>
            </a:r>
          </a:p>
          <a:p>
            <a:pPr marL="882650" lvl="1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>
              <a:solidFill>
                <a:schemeClr val="tx1"/>
              </a:solidFill>
            </a:endParaRPr>
          </a:p>
          <a:p>
            <a:pPr marL="425450" lvl="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>
              <a:solidFill>
                <a:srgbClr val="980000"/>
              </a:solidFill>
            </a:endParaRP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467802CE-D354-B52D-31AD-3461F3D44F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3E21D57-83DD-8DD9-735D-3604E9FF8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5" y="2146927"/>
            <a:ext cx="3346229" cy="2069166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6ACC208-14C2-D36B-208E-C1BA3E814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548" y="2146927"/>
            <a:ext cx="3346229" cy="2069166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882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88C112B4-06FA-1631-F305-B4900C121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DD5916CE-108F-F89F-365C-FCEC59CEA4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000" dirty="0"/>
              <a:t>Parte 2 : Estudo do Ajuste com Restrição de Igualdade</a:t>
            </a:r>
            <a:endParaRPr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9F40BCF3-E0F2-C64F-ABDD-03C8DC71E5D9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>
                    <a:solidFill>
                      <a:srgbClr val="980000"/>
                    </a:solidFill>
                  </a:rPr>
                  <a:t>Objetivo</a:t>
                </a:r>
                <a:r>
                  <a:rPr lang="pt-BR" dirty="0"/>
                  <a:t>:</a:t>
                </a:r>
                <a:r>
                  <a:rPr lang="pt-BR" b="1" dirty="0"/>
                  <a:t> </a:t>
                </a:r>
                <a:r>
                  <a:rPr lang="pt-BR" dirty="0"/>
                  <a:t>Garantir que a curva ajustada passe obrigatoriamente por um ponto conhecido do problema.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>
                    <a:solidFill>
                      <a:schemeClr val="tx1"/>
                    </a:solidFill>
                  </a:rPr>
                  <a:t>Ponto de Restrição:</a:t>
                </a:r>
              </a:p>
              <a:p>
                <a:pPr marL="882650" lvl="1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>
                    <a:solidFill>
                      <a:schemeClr val="tx1"/>
                    </a:solidFill>
                  </a:rPr>
                  <a:t>(163, 146)</a:t>
                </a:r>
                <a:endParaRPr lang="pt-BR" u="sng" dirty="0">
                  <a:solidFill>
                    <a:schemeClr val="tx1"/>
                  </a:solidFill>
                </a:endParaRP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>
                    <a:solidFill>
                      <a:schemeClr val="tx1"/>
                    </a:solidFill>
                  </a:rPr>
                  <a:t>No ajuste </a:t>
                </a:r>
                <a:r>
                  <a:rPr lang="pt-BR" dirty="0">
                    <a:solidFill>
                      <a:srgbClr val="980000"/>
                    </a:solidFill>
                  </a:rPr>
                  <a:t>linear restrito</a:t>
                </a:r>
                <a:r>
                  <a:rPr lang="pt-BR" dirty="0">
                    <a:solidFill>
                      <a:schemeClr val="tx1"/>
                    </a:solidFill>
                  </a:rPr>
                  <a:t> temos: </a:t>
                </a:r>
              </a:p>
              <a:p>
                <a:pPr marL="596900" lvl="1" indent="0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146</m:t>
                          </m:r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m:rPr>
                              <m:sty m:val="p"/>
                            </m:r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163</m:t>
                      </m:r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dirty="0">
                          <a:solidFill>
                            <a:schemeClr val="tx1"/>
                          </a:solidFill>
                        </a:rPr>
                        <m:t> 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>
                    <a:solidFill>
                      <a:schemeClr val="tx1"/>
                    </a:solidFill>
                  </a:rPr>
                  <a:t>No ajuste </a:t>
                </a:r>
                <a:r>
                  <a:rPr lang="pt-BR" dirty="0">
                    <a:solidFill>
                      <a:srgbClr val="980000"/>
                    </a:solidFill>
                  </a:rPr>
                  <a:t>quadrático restrito</a:t>
                </a:r>
                <a:r>
                  <a:rPr lang="pt-BR" dirty="0">
                    <a:solidFill>
                      <a:schemeClr val="tx1"/>
                    </a:solidFill>
                  </a:rPr>
                  <a:t> temos: </a:t>
                </a:r>
              </a:p>
              <a:p>
                <a:pPr marL="596900" lvl="1" indent="0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146</m:t>
                          </m:r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m:rPr>
                              <m:sty m:val="p"/>
                            </m:r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163</m:t>
                      </m:r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163</m:t>
                      </m:r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²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  <a:p>
                <a:pPr marL="596900" lvl="1" indent="0" algn="l">
                  <a:lnSpc>
                    <a:spcPct val="150000"/>
                  </a:lnSpc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882650" lvl="1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rgbClr val="980000"/>
                  </a:solidFill>
                </a:endParaRPr>
              </a:p>
            </p:txBody>
          </p:sp>
        </mc:Choice>
        <mc:Fallback xmlns="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9F40BCF3-E0F2-C64F-ABDD-03C8DC71E5D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90498355-DEBA-9E0E-E508-0B8B8B390F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095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B3347D3A-CF0D-4020-1ADB-B7046247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17772521-4F83-06BC-C1B5-4B4A98251F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000" dirty="0"/>
              <a:t>Parte 2 : Estudo do Ajuste com Restrição de Igualdade</a:t>
            </a:r>
            <a:endParaRPr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BAF1CC88-EFE9-FD81-9097-3366B2F6F324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>
                    <a:solidFill>
                      <a:schemeClr val="tx1"/>
                    </a:solidFill>
                  </a:rPr>
                  <a:t>Para isso precisamos olhar para o modelo restrito 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>
                    <a:solidFill>
                      <a:schemeClr val="tx1"/>
                    </a:solidFill>
                  </a:rPr>
                  <a:t>E temos agora vetores de restrição para os 2 casos e podemos resolver o sistema</a:t>
                </a:r>
              </a:p>
              <a:p>
                <a:pPr marL="882650" lvl="1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>
                    <a:solidFill>
                      <a:schemeClr val="tx1"/>
                    </a:solidFill>
                  </a:rPr>
                  <a:t>Linear </a:t>
                </a:r>
              </a:p>
              <a:p>
                <a:pPr marL="1339850" lvl="2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>
                    <a:solidFill>
                      <a:schemeClr val="tx1"/>
                    </a:solidFill>
                  </a:rPr>
                  <a:t>G = [ 1	    163]   	</a:t>
                </a:r>
                <a14:m>
                  <m:oMath xmlns:m="http://schemas.openxmlformats.org/officeDocument/2006/math">
                    <m:r>
                      <a:rPr lang="pt-B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= [146]   </a:t>
                </a:r>
              </a:p>
              <a:p>
                <a:pPr marL="882650" lvl="1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>
                    <a:solidFill>
                      <a:schemeClr val="tx1"/>
                    </a:solidFill>
                  </a:rPr>
                  <a:t>Quadrático </a:t>
                </a:r>
              </a:p>
              <a:p>
                <a:pPr marL="1339850" lvl="2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>
                    <a:solidFill>
                      <a:schemeClr val="tx1"/>
                    </a:solidFill>
                  </a:rPr>
                  <a:t>G = [ 1	    163    163]	          </a:t>
                </a:r>
                <a14:m>
                  <m:oMath xmlns:m="http://schemas.openxmlformats.org/officeDocument/2006/math">
                    <m:r>
                      <a:rPr lang="pt-B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= [146]   </a:t>
                </a:r>
              </a:p>
              <a:p>
                <a:pPr marL="1339850" lvl="2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1339850" lvl="2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chemeClr val="tx1"/>
                  </a:solidFill>
                </a:endParaRPr>
              </a:p>
              <a:p>
                <a:pPr marL="882650" lvl="1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dirty="0">
                  <a:solidFill>
                    <a:srgbClr val="980000"/>
                  </a:solidFill>
                </a:endParaRPr>
              </a:p>
            </p:txBody>
          </p:sp>
        </mc:Choice>
        <mc:Fallback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BAF1CC88-EFE9-FD81-9097-3366B2F6F32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5275D1CA-B194-2F71-ED63-AECAAB82ED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B569565-20C9-338E-0905-43AFCAA81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41" y="1768373"/>
            <a:ext cx="2448267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42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D7F5CBB9-0891-C70A-4E96-B0095A2E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3B2A9CF8-85C8-29B3-93D5-404539D200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000" dirty="0"/>
              <a:t>Parte 2 : Estudo do Ajuste com Restrição de Igualdade</a:t>
            </a:r>
            <a:endParaRPr sz="2000"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03056D00-1114-D1DC-29BD-96EAC8525E6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Wingdings" panose="05000000000000000000" pitchFamily="2" charset="2"/>
              <a:buChar char="q"/>
            </a:pPr>
            <a:r>
              <a:rPr lang="pt-BR" dirty="0"/>
              <a:t>Após a aplicação do método com restrição de igualdade, obtivemos os seguintes modelos ajustados</a:t>
            </a:r>
            <a:endParaRPr lang="pt-BR" dirty="0">
              <a:solidFill>
                <a:schemeClr val="tx1"/>
              </a:solidFill>
            </a:endParaRPr>
          </a:p>
          <a:p>
            <a:pPr marL="1339850" lvl="2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>
              <a:solidFill>
                <a:schemeClr val="tx1"/>
              </a:solidFill>
            </a:endParaRPr>
          </a:p>
          <a:p>
            <a:pPr marL="882650" lvl="1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>
              <a:solidFill>
                <a:srgbClr val="980000"/>
              </a:solidFill>
            </a:endParaRP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7510C127-B66E-3D8B-98EF-5EAF914AD7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746638-3039-C143-F545-B727F02C9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065" y="1827141"/>
            <a:ext cx="2541869" cy="64297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04F5B00-E74D-466F-E278-456B6385C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183" y="2716989"/>
            <a:ext cx="2988067" cy="1828292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001D2AC-A73D-9DF3-5799-69B9C8D6D1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885" y="2716988"/>
            <a:ext cx="3491315" cy="1828291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276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54D64DA3-98B2-13E9-F7FE-BB3CB9E37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61DE2C2C-1EFE-F615-C2A5-CC93C77117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000" dirty="0"/>
              <a:t>Conclusões</a:t>
            </a:r>
            <a:endParaRPr sz="2000"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A27E775F-B16B-F7CA-2963-7E6340D6B6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Wingdings" panose="05000000000000000000" pitchFamily="2" charset="2"/>
              <a:buChar char="q"/>
            </a:pPr>
            <a:r>
              <a:rPr lang="pt-BR" dirty="0"/>
              <a:t>Modelo SIR</a:t>
            </a:r>
          </a:p>
          <a:p>
            <a:pPr lvl="1" algn="l">
              <a:buFont typeface="Wingdings" panose="05000000000000000000" pitchFamily="2" charset="2"/>
              <a:buChar char="q"/>
            </a:pPr>
            <a:r>
              <a:rPr lang="pt-BR" dirty="0"/>
              <a:t>O modelo discreto conseguiu representar adequadamente a </a:t>
            </a:r>
            <a:r>
              <a:rPr lang="pt-BR" dirty="0">
                <a:solidFill>
                  <a:srgbClr val="980000"/>
                </a:solidFill>
              </a:rPr>
              <a:t>evolução</a:t>
            </a:r>
            <a:r>
              <a:rPr lang="pt-BR" dirty="0"/>
              <a:t> das populações suscetíveis, infectadas e recuperadas.</a:t>
            </a:r>
          </a:p>
          <a:p>
            <a:pPr lvl="1" algn="l">
              <a:buFont typeface="Wingdings" panose="05000000000000000000" pitchFamily="2" charset="2"/>
              <a:buChar char="q"/>
            </a:pPr>
            <a:r>
              <a:rPr lang="pt-BR" dirty="0"/>
              <a:t>A estimação via mínimos quadrados permitiu recuperar os </a:t>
            </a:r>
            <a:r>
              <a:rPr lang="pt-BR" dirty="0">
                <a:solidFill>
                  <a:srgbClr val="980000"/>
                </a:solidFill>
              </a:rPr>
              <a:t>mesmos valores</a:t>
            </a:r>
            <a:r>
              <a:rPr lang="pt-BR" dirty="0"/>
              <a:t> de 𝛽 e 𝛾.</a:t>
            </a:r>
          </a:p>
          <a:p>
            <a:pPr lvl="1" algn="l">
              <a:buFont typeface="Wingdings" panose="05000000000000000000" pitchFamily="2" charset="2"/>
              <a:buChar char="q"/>
            </a:pPr>
            <a:r>
              <a:rPr lang="pt-BR" dirty="0"/>
              <a:t>Mesmo com redução dos dados, a </a:t>
            </a:r>
            <a:r>
              <a:rPr lang="pt-BR" dirty="0">
                <a:solidFill>
                  <a:schemeClr val="tx1"/>
                </a:solidFill>
              </a:rPr>
              <a:t>dinâmica principal </a:t>
            </a:r>
            <a:r>
              <a:rPr lang="pt-BR" dirty="0"/>
              <a:t>do sistema foi </a:t>
            </a:r>
            <a:r>
              <a:rPr lang="pt-BR" dirty="0">
                <a:solidFill>
                  <a:srgbClr val="980000"/>
                </a:solidFill>
              </a:rPr>
              <a:t>preservada</a:t>
            </a:r>
            <a:r>
              <a:rPr lang="pt-BR" dirty="0"/>
              <a:t>.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/>
                </a:solidFill>
              </a:rPr>
              <a:t>Ajuste de Curvas:</a:t>
            </a:r>
          </a:p>
          <a:p>
            <a:pPr lvl="1" algn="l"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/>
                </a:solidFill>
              </a:rPr>
              <a:t>Os modelos linear e quadrático representaram </a:t>
            </a:r>
            <a:r>
              <a:rPr lang="pt-BR" dirty="0">
                <a:solidFill>
                  <a:srgbClr val="980000"/>
                </a:solidFill>
              </a:rPr>
              <a:t>satisfatoriamente</a:t>
            </a:r>
            <a:r>
              <a:rPr lang="pt-BR" dirty="0">
                <a:solidFill>
                  <a:schemeClr val="tx1"/>
                </a:solidFill>
              </a:rPr>
              <a:t> a relação entre renda e consumo.</a:t>
            </a:r>
          </a:p>
          <a:p>
            <a:pPr lvl="1" algn="l"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/>
                </a:solidFill>
              </a:rPr>
              <a:t>O ajuste quadrático apresentou </a:t>
            </a:r>
            <a:r>
              <a:rPr lang="pt-BR" dirty="0">
                <a:solidFill>
                  <a:srgbClr val="980000"/>
                </a:solidFill>
              </a:rPr>
              <a:t>maior flexibilidade</a:t>
            </a:r>
            <a:r>
              <a:rPr lang="pt-BR" dirty="0">
                <a:solidFill>
                  <a:schemeClr val="tx1"/>
                </a:solidFill>
              </a:rPr>
              <a:t> para capturar tendências não lineares.</a:t>
            </a:r>
          </a:p>
          <a:p>
            <a:pPr lvl="1" algn="l"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/>
                </a:solidFill>
              </a:rPr>
              <a:t>A inclusão de restrições permitiu forçar a passagem por pontos específicos sem perder a </a:t>
            </a:r>
            <a:r>
              <a:rPr lang="pt-BR" dirty="0">
                <a:solidFill>
                  <a:srgbClr val="980000"/>
                </a:solidFill>
              </a:rPr>
              <a:t>coerência</a:t>
            </a:r>
            <a:r>
              <a:rPr lang="pt-BR" dirty="0">
                <a:solidFill>
                  <a:schemeClr val="tx1"/>
                </a:solidFill>
              </a:rPr>
              <a:t> do ajuste.</a:t>
            </a:r>
          </a:p>
          <a:p>
            <a:pPr marL="882650" lvl="1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>
              <a:solidFill>
                <a:srgbClr val="980000"/>
              </a:solidFill>
            </a:endParaRP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0BB98370-0B9B-31A0-F44F-1B661F000C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704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51"/>
          <p:cNvGrpSpPr/>
          <p:nvPr/>
        </p:nvGrpSpPr>
        <p:grpSpPr>
          <a:xfrm>
            <a:off x="0" y="-150"/>
            <a:ext cx="9144000" cy="2572200"/>
            <a:chOff x="0" y="-150"/>
            <a:chExt cx="9144000" cy="2572200"/>
          </a:xfrm>
        </p:grpSpPr>
        <p:sp>
          <p:nvSpPr>
            <p:cNvPr id="438" name="Google Shape;438;p51"/>
            <p:cNvSpPr/>
            <p:nvPr/>
          </p:nvSpPr>
          <p:spPr>
            <a:xfrm>
              <a:off x="0" y="1649975"/>
              <a:ext cx="9144000" cy="574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9" name="Google Shape;439;p51"/>
            <p:cNvCxnSpPr/>
            <p:nvPr/>
          </p:nvCxnSpPr>
          <p:spPr>
            <a:xfrm rot="10800000">
              <a:off x="8430313" y="-150"/>
              <a:ext cx="0" cy="2572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40" name="Google Shape;440;p51"/>
          <p:cNvSpPr txBox="1">
            <a:spLocks noGrp="1"/>
          </p:cNvSpPr>
          <p:nvPr>
            <p:ph type="title"/>
          </p:nvPr>
        </p:nvSpPr>
        <p:spPr>
          <a:xfrm>
            <a:off x="2654700" y="530250"/>
            <a:ext cx="38346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Obrigado!</a:t>
            </a:r>
            <a:endParaRPr/>
          </a:p>
        </p:txBody>
      </p:sp>
      <p:sp>
        <p:nvSpPr>
          <p:cNvPr id="441" name="Google Shape;441;p51"/>
          <p:cNvSpPr txBox="1">
            <a:spLocks noGrp="1"/>
          </p:cNvSpPr>
          <p:nvPr>
            <p:ph type="subTitle" idx="1"/>
          </p:nvPr>
        </p:nvSpPr>
        <p:spPr>
          <a:xfrm>
            <a:off x="2654700" y="2312156"/>
            <a:ext cx="3834600" cy="9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i="1"/>
              <a:t>jvnramos.ppgmc@uesc.br </a:t>
            </a:r>
            <a:endParaRPr b="0" i="1"/>
          </a:p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b="0"/>
              <a:t>(73) 98100-9731 </a:t>
            </a:r>
            <a:endParaRPr b="0"/>
          </a:p>
        </p:txBody>
      </p:sp>
      <p:sp>
        <p:nvSpPr>
          <p:cNvPr id="442" name="Google Shape;442;p51"/>
          <p:cNvSpPr txBox="1"/>
          <p:nvPr/>
        </p:nvSpPr>
        <p:spPr>
          <a:xfrm>
            <a:off x="2572500" y="3300000"/>
            <a:ext cx="4170000" cy="11082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443" name="Google Shape;443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444" name="Google Shape;444;p51"/>
          <p:cNvSpPr txBox="1"/>
          <p:nvPr/>
        </p:nvSpPr>
        <p:spPr>
          <a:xfrm>
            <a:off x="3410025" y="1638450"/>
            <a:ext cx="24303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Perguntas?</a:t>
            </a:r>
            <a:endParaRPr sz="2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1091</Words>
  <Application>Microsoft Office PowerPoint</Application>
  <PresentationFormat>Apresentação na tela (16:9)</PresentationFormat>
  <Paragraphs>168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2" baseType="lpstr">
      <vt:lpstr>Cambria Math</vt:lpstr>
      <vt:lpstr>Golos Text</vt:lpstr>
      <vt:lpstr>Golos Text SemiBold</vt:lpstr>
      <vt:lpstr>Wingdings</vt:lpstr>
      <vt:lpstr>Arial</vt:lpstr>
      <vt:lpstr>Red Hat Display</vt:lpstr>
      <vt:lpstr>Commissioner</vt:lpstr>
      <vt:lpstr>Chivo</vt:lpstr>
      <vt:lpstr>Formulating a Research Problem for University Students by Slidesgo</vt:lpstr>
      <vt:lpstr>            Teoria da Estimação Trabalho 1 </vt:lpstr>
      <vt:lpstr>Visão Geral do Trabalho</vt:lpstr>
      <vt:lpstr>Ferramentas de Implementação</vt:lpstr>
      <vt:lpstr>Parte 1 : Modelo SIR</vt:lpstr>
      <vt:lpstr>Parte 1 : Configuração da Simulação</vt:lpstr>
      <vt:lpstr>Parte 1 : Evolução no Tempo</vt:lpstr>
      <vt:lpstr>Parte 1 : Etapa de Transição</vt:lpstr>
      <vt:lpstr>Parte 1 : Estimativa de Parâmetros </vt:lpstr>
      <vt:lpstr>Parte 1 : Estimativa de Parâmetros </vt:lpstr>
      <vt:lpstr>Parte 1 : Estimativa de Parâmetros </vt:lpstr>
      <vt:lpstr>Parte 1 : Estimativa de Parâmetros </vt:lpstr>
      <vt:lpstr>Parte 1 : Simulação com dados reduzidos</vt:lpstr>
      <vt:lpstr>Parte 1 : Simulação com dados reduzidos</vt:lpstr>
      <vt:lpstr>Parte 2 : Renda e Consumo </vt:lpstr>
      <vt:lpstr>Parte 2 : Formulação ajuste linear</vt:lpstr>
      <vt:lpstr>Parte 2 : Formulação ajuste quadrático</vt:lpstr>
      <vt:lpstr>Parte 2 : Resultados dos ajustes</vt:lpstr>
      <vt:lpstr>Parte 2 : Análise Gráfica e Erros</vt:lpstr>
      <vt:lpstr>Parte 2 : Estudo do Ajuste com Restrição de Igualdade</vt:lpstr>
      <vt:lpstr>Parte 2 : Estudo do Ajuste com Restrição de Igualdade</vt:lpstr>
      <vt:lpstr>Parte 2 : Estudo do Ajuste com Restrição de Igualdade</vt:lpstr>
      <vt:lpstr>Conclusões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Joao Ramos</dc:creator>
  <cp:lastModifiedBy>João Vitor</cp:lastModifiedBy>
  <cp:revision>8</cp:revision>
  <dcterms:modified xsi:type="dcterms:W3CDTF">2026-04-08T13:47:20Z</dcterms:modified>
</cp:coreProperties>
</file>