
<file path=[Content_Types].xml><?xml version="1.0" encoding="utf-8"?>
<Types xmlns="http://schemas.openxmlformats.org/package/2006/content-types">
  <Default Extension="fntdata" ContentType="application/x-fontdata"/>
  <Default Extension="mp4" ContentType="video/mp4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81" r:id="rId1"/>
  </p:sldMasterIdLst>
  <p:notesMasterIdLst>
    <p:notesMasterId r:id="rId27"/>
  </p:notesMasterIdLst>
  <p:sldIdLst>
    <p:sldId id="256" r:id="rId2"/>
    <p:sldId id="257" r:id="rId3"/>
    <p:sldId id="321" r:id="rId4"/>
    <p:sldId id="316" r:id="rId5"/>
    <p:sldId id="317" r:id="rId6"/>
    <p:sldId id="318" r:id="rId7"/>
    <p:sldId id="319" r:id="rId8"/>
    <p:sldId id="320" r:id="rId9"/>
    <p:sldId id="337" r:id="rId10"/>
    <p:sldId id="322" r:id="rId11"/>
    <p:sldId id="323" r:id="rId12"/>
    <p:sldId id="338" r:id="rId13"/>
    <p:sldId id="339" r:id="rId14"/>
    <p:sldId id="324" r:id="rId15"/>
    <p:sldId id="340" r:id="rId16"/>
    <p:sldId id="341" r:id="rId17"/>
    <p:sldId id="328" r:id="rId18"/>
    <p:sldId id="342" r:id="rId19"/>
    <p:sldId id="343" r:id="rId20"/>
    <p:sldId id="344" r:id="rId21"/>
    <p:sldId id="345" r:id="rId22"/>
    <p:sldId id="329" r:id="rId23"/>
    <p:sldId id="346" r:id="rId24"/>
    <p:sldId id="336" r:id="rId25"/>
    <p:sldId id="272" r:id="rId26"/>
  </p:sldIdLst>
  <p:sldSz cx="9144000" cy="5143500" type="screen16x9"/>
  <p:notesSz cx="6858000" cy="9144000"/>
  <p:embeddedFontLst>
    <p:embeddedFont>
      <p:font typeface="Cambria Math" panose="02040503050406030204" pitchFamily="18" charset="0"/>
      <p:regular r:id="rId28"/>
    </p:embeddedFont>
    <p:embeddedFont>
      <p:font typeface="Commissioner" panose="020B0604020202020204" charset="0"/>
      <p:regular r:id="rId29"/>
      <p:bold r:id="rId30"/>
    </p:embeddedFont>
    <p:embeddedFont>
      <p:font typeface="Golos Text" panose="020B0604020202020204" charset="0"/>
      <p:regular r:id="rId31"/>
      <p:bold r:id="rId32"/>
    </p:embeddedFont>
    <p:embeddedFont>
      <p:font typeface="Golos Text SemiBold" panose="020B0604020202020204" charset="0"/>
      <p:regular r:id="rId33"/>
      <p:bold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8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152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50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747bfd1ede_0_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747bfd1ede_0_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237828FD-96EE-2A0F-9D1D-7CE54E4DFC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B1734572-BB44-F607-92BA-70F7F89267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213DCB88-3AEC-15CE-CFD8-BF80A892EB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506120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B0075E12-A0E5-1456-F65A-5418954DD6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E7C62F44-0EA2-5133-D936-F2593D42F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4A68C2D4-96DD-FCDA-CCF0-C1C3D61EF9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240770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8D060DD3-D94C-E6B0-16E7-A18C4905B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3F3DDE81-2BFE-7098-E055-0C0739957D5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1C96448F-B14B-592F-CF2F-0B4145469D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6341403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4797FEFF-79C8-1A73-DD30-99C5F2ECD6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AC735AF4-1F46-6818-A076-6BFAE38862C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00B2B219-A57F-5810-CAFD-43BF4D12266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85554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70C26845-7200-C4D9-49D4-A0F8A4F80C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555BEEA7-E248-2F09-7513-F8248A9C63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5811182F-50D1-B3E9-54E3-DC64EA8AB0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16010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2117B73D-0924-9E64-0C45-AEDCEC4EC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BD79201E-81ED-E45A-6D8D-B95407449EB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4E1E91CC-6368-25FC-8CCF-8A75C1409FD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7471779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90DB33BE-279F-BE16-4DD8-96FAC2BAB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64E4BDD8-BB9D-E0C1-0214-EC9B36E1A9D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DF8C04EB-C2B3-7C74-CE16-CE0A7A823B5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40290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21148F82-18C7-73F6-04AC-A08553781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BB04782F-D89A-9722-75AA-970AF921E1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61B2E1DB-58E0-C9A7-288C-388A878A006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9686716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B7AB5A92-2FEF-5DE5-F672-94AA89F4A1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B9621448-8275-F39E-31CC-5D00D69402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D071454B-044F-5B92-605E-A781D01AADC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831305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7136DC08-DAE4-19EC-8B3F-E6B81F030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CE779C87-7DC6-4744-67D6-3E35A161F15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93AF0474-855D-262F-5805-D9AF6C0338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323701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091AE640-E90F-F885-248E-978799940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6109AE0B-4268-EA83-70A5-21391ED84B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E9A015A8-55C1-C67E-AD60-0796C2E32F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437472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C536F542-FB3C-F475-2414-AF06CA3E6B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92802B40-F7A6-9B3E-3876-71D76287EC8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52F1C25C-DE54-278C-C213-9E6AE0CC51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340355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9B33D7C1-0D91-2097-FB86-A088C82B7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237B2C46-242F-A4EE-D50C-4410502FEC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2FD446D3-5FEE-C851-2640-BA19FACF8FE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422868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5EA59A49-FB30-494C-6BF3-19415FE283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2A13CAB2-7E8A-6F7D-4AE6-7E29A0D7FA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304775D9-03CC-FCFE-F1C4-88844596B9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5371718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DE53DB1B-0056-0304-D28C-19205122E5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19C7DD8B-251F-A218-E256-EFB7677857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D9F01345-34F4-0856-9C9A-E8035B49E8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1054325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2BF37242-9C61-AB59-90C1-D49E9B259E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1B3DE3E8-4A58-F9CB-E8EB-2AAECBF57C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837979DE-5DA9-0DC2-1E6F-63BA407647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597848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DA6545F9-6402-10A3-D0B5-82A5CDD734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2B782285-6236-60FC-C119-161C548B01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BDDA022A-975E-5933-0F15-C7DD74DCD6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65787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30DA0805-0319-3A5B-5E9F-29B3530363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36ACE154-9AD3-9E28-4554-7A244500AB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6C951642-D8FE-63C0-2C93-7B36E75FBB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78304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4AB6F0F9-1FDA-8D25-D0BE-59C5DC5613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0494BE08-7962-9C5D-23B9-E7944C0C75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E7FF2A2B-828D-C479-214A-258A5E1776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0789297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C0108305-2739-3036-B44D-D5E88CE8D6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C75DC057-E417-4F3C-A0A2-54278369638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A27DD265-A103-40DA-CA14-1447E993AD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8762694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3B5F8689-57B1-5313-E37F-30CA18379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CA08235F-26EC-5A2F-2C4D-4A80A9FF7F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CD1E0F5E-0B7D-B75D-F53F-E70DB9A3FA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477209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6">
          <a:extLst>
            <a:ext uri="{FF2B5EF4-FFF2-40B4-BE49-F238E27FC236}">
              <a16:creationId xmlns:a16="http://schemas.microsoft.com/office/drawing/2014/main" id="{F0821141-AAEC-C990-B00D-6B231ACECD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g3a49498521c_0_10:notes">
            <a:extLst>
              <a:ext uri="{FF2B5EF4-FFF2-40B4-BE49-F238E27FC236}">
                <a16:creationId xmlns:a16="http://schemas.microsoft.com/office/drawing/2014/main" id="{AFE40300-1BE9-BE88-D465-6D2D8E986A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8" name="Google Shape;318;g3a49498521c_0_10:notes">
            <a:extLst>
              <a:ext uri="{FF2B5EF4-FFF2-40B4-BE49-F238E27FC236}">
                <a16:creationId xmlns:a16="http://schemas.microsoft.com/office/drawing/2014/main" id="{12207700-EBCD-7F80-779F-16DABFA095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614903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131ff7c0f5b_0_28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131ff7c0f5b_0_28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hyperlink" Target="https://freepik.com/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713225" y="1014550"/>
            <a:ext cx="5602200" cy="2219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713225" y="3315975"/>
            <a:ext cx="5602200" cy="72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3" name="Google Shape;13;p2"/>
          <p:cNvGrpSpPr/>
          <p:nvPr/>
        </p:nvGrpSpPr>
        <p:grpSpPr>
          <a:xfrm>
            <a:off x="-55375" y="539500"/>
            <a:ext cx="9199350" cy="4604000"/>
            <a:chOff x="-55375" y="539500"/>
            <a:chExt cx="9199350" cy="4604000"/>
          </a:xfrm>
        </p:grpSpPr>
        <p:cxnSp>
          <p:nvCxnSpPr>
            <p:cNvPr id="14" name="Google Shape;14;p2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" name="Google Shape;15;p2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" name="Google Shape;16;p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title" idx="2" hasCustomPrompt="1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20" name="Google Shape;20;p3"/>
          <p:cNvSpPr txBox="1">
            <a:spLocks noGrp="1"/>
          </p:cNvSpPr>
          <p:nvPr>
            <p:ph type="subTitle" idx="1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21" name="Google Shape;21;p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2" name="Google Shape;22;p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/>
          <p:nvPr/>
        </p:nvSpPr>
        <p:spPr>
          <a:xfrm flipH="1">
            <a:off x="0" y="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" name="Google Shape;28;p4"/>
          <p:cNvGrpSpPr/>
          <p:nvPr/>
        </p:nvGrpSpPr>
        <p:grpSpPr>
          <a:xfrm>
            <a:off x="150" y="0"/>
            <a:ext cx="8860050" cy="4876025"/>
            <a:chOff x="150" y="0"/>
            <a:chExt cx="8860050" cy="4876025"/>
          </a:xfrm>
        </p:grpSpPr>
        <p:cxnSp>
          <p:nvCxnSpPr>
            <p:cNvPr id="29" name="Google Shape;29;p4"/>
            <p:cNvCxnSpPr/>
            <p:nvPr/>
          </p:nvCxnSpPr>
          <p:spPr>
            <a:xfrm>
              <a:off x="8860200" y="0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4"/>
            <p:cNvCxnSpPr/>
            <p:nvPr/>
          </p:nvCxnSpPr>
          <p:spPr>
            <a:xfrm rot="10800000">
              <a:off x="150" y="4876025"/>
              <a:ext cx="8444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5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5"/>
          <p:cNvSpPr txBox="1">
            <a:spLocks noGrp="1"/>
          </p:cNvSpPr>
          <p:nvPr>
            <p:ph type="subTitle" idx="1"/>
          </p:nvPr>
        </p:nvSpPr>
        <p:spPr>
          <a:xfrm>
            <a:off x="2954672" y="2027976"/>
            <a:ext cx="43122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2"/>
          </p:nvPr>
        </p:nvSpPr>
        <p:spPr>
          <a:xfrm>
            <a:off x="2954672" y="1519425"/>
            <a:ext cx="43122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3"/>
          </p:nvPr>
        </p:nvSpPr>
        <p:spPr>
          <a:xfrm>
            <a:off x="2954649" y="3619500"/>
            <a:ext cx="43122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4"/>
          </p:nvPr>
        </p:nvSpPr>
        <p:spPr>
          <a:xfrm>
            <a:off x="2954649" y="3110949"/>
            <a:ext cx="43122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/>
          <p:nvPr/>
        </p:nvSpPr>
        <p:spPr>
          <a:xfrm flipH="1"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39" name="Google Shape;39;p5"/>
          <p:cNvCxnSpPr/>
          <p:nvPr/>
        </p:nvCxnSpPr>
        <p:spPr>
          <a:xfrm rot="10800000">
            <a:off x="8864825" y="0"/>
            <a:ext cx="0" cy="413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0" name="Google Shape;40;p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6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4" name="Google Shape;44;p6"/>
          <p:cNvGrpSpPr/>
          <p:nvPr/>
        </p:nvGrpSpPr>
        <p:grpSpPr>
          <a:xfrm>
            <a:off x="141900" y="-26"/>
            <a:ext cx="9002025" cy="4876051"/>
            <a:chOff x="141900" y="-26"/>
            <a:chExt cx="9002025" cy="4876051"/>
          </a:xfrm>
        </p:grpSpPr>
        <p:cxnSp>
          <p:nvCxnSpPr>
            <p:cNvPr id="45" name="Google Shape;45;p6"/>
            <p:cNvCxnSpPr/>
            <p:nvPr/>
          </p:nvCxnSpPr>
          <p:spPr>
            <a:xfrm>
              <a:off x="4576425" y="4876025"/>
              <a:ext cx="4567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46" name="Google Shape;46;p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7" name="Google Shape;47;p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713225" y="519075"/>
            <a:ext cx="2789700" cy="197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ubTitle" idx="1"/>
          </p:nvPr>
        </p:nvSpPr>
        <p:spPr>
          <a:xfrm>
            <a:off x="713225" y="2558881"/>
            <a:ext cx="2789700" cy="1395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>
            <a:spLocks noGrp="1"/>
          </p:cNvSpPr>
          <p:nvPr>
            <p:ph type="pic" idx="2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52" name="Google Shape;52;p7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53" name="Google Shape;53;p7"/>
          <p:cNvGrpSpPr/>
          <p:nvPr/>
        </p:nvGrpSpPr>
        <p:grpSpPr>
          <a:xfrm>
            <a:off x="0" y="-300"/>
            <a:ext cx="3812275" cy="4608875"/>
            <a:chOff x="0" y="-300"/>
            <a:chExt cx="3812275" cy="4608875"/>
          </a:xfrm>
        </p:grpSpPr>
        <p:cxnSp>
          <p:nvCxnSpPr>
            <p:cNvPr id="54" name="Google Shape;54;p7"/>
            <p:cNvCxnSpPr/>
            <p:nvPr/>
          </p:nvCxnSpPr>
          <p:spPr>
            <a:xfrm rot="10800000">
              <a:off x="3812275" y="-300"/>
              <a:ext cx="0" cy="699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5" name="Google Shape;55;p7"/>
            <p:cNvCxnSpPr/>
            <p:nvPr/>
          </p:nvCxnSpPr>
          <p:spPr>
            <a:xfrm>
              <a:off x="0" y="4608575"/>
              <a:ext cx="3387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title"/>
          </p:nvPr>
        </p:nvSpPr>
        <p:spPr>
          <a:xfrm>
            <a:off x="1864800" y="1219025"/>
            <a:ext cx="5414400" cy="2298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59" name="Google Shape;59;p8"/>
          <p:cNvSpPr/>
          <p:nvPr/>
        </p:nvSpPr>
        <p:spPr>
          <a:xfrm flipH="1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0" name="Google Shape;60;p8"/>
          <p:cNvGrpSpPr/>
          <p:nvPr/>
        </p:nvGrpSpPr>
        <p:grpSpPr>
          <a:xfrm flipH="1">
            <a:off x="-55200" y="539500"/>
            <a:ext cx="9199200" cy="4604000"/>
            <a:chOff x="-55375" y="539500"/>
            <a:chExt cx="9199200" cy="4604000"/>
          </a:xfrm>
        </p:grpSpPr>
        <p:cxnSp>
          <p:nvCxnSpPr>
            <p:cNvPr id="61" name="Google Shape;61;p8"/>
            <p:cNvCxnSpPr/>
            <p:nvPr/>
          </p:nvCxnSpPr>
          <p:spPr>
            <a:xfrm>
              <a:off x="-55375" y="4608575"/>
              <a:ext cx="56592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2" name="Google Shape;62;p8"/>
            <p:cNvCxnSpPr/>
            <p:nvPr/>
          </p:nvCxnSpPr>
          <p:spPr>
            <a:xfrm>
              <a:off x="4502525" y="539500"/>
              <a:ext cx="46413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3" name="Google Shape;63;p8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1962900" y="829786"/>
            <a:ext cx="5218200" cy="1338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1962900" y="2282714"/>
            <a:ext cx="5218200" cy="2031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68" name="Google Shape;68;p9"/>
          <p:cNvSpPr/>
          <p:nvPr/>
        </p:nvSpPr>
        <p:spPr>
          <a:xfrm>
            <a:off x="75" y="4426700"/>
            <a:ext cx="9144000" cy="71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9" name="Google Shape;69;p9"/>
          <p:cNvGrpSpPr/>
          <p:nvPr/>
        </p:nvGrpSpPr>
        <p:grpSpPr>
          <a:xfrm>
            <a:off x="712700" y="539500"/>
            <a:ext cx="8431300" cy="4604000"/>
            <a:chOff x="712700" y="539500"/>
            <a:chExt cx="8431300" cy="4604000"/>
          </a:xfrm>
        </p:grpSpPr>
        <p:cxnSp>
          <p:nvCxnSpPr>
            <p:cNvPr id="70" name="Google Shape;70;p9"/>
            <p:cNvCxnSpPr/>
            <p:nvPr/>
          </p:nvCxnSpPr>
          <p:spPr>
            <a:xfrm>
              <a:off x="4572000" y="539500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1" name="Google Shape;71;p9"/>
            <p:cNvCxnSpPr/>
            <p:nvPr/>
          </p:nvCxnSpPr>
          <p:spPr>
            <a:xfrm rot="10800000">
              <a:off x="712700" y="1685400"/>
              <a:ext cx="0" cy="3458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2" name="Google Shape;72;p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0"/>
          <p:cNvSpPr txBox="1">
            <a:spLocks noGrp="1"/>
          </p:cNvSpPr>
          <p:nvPr>
            <p:ph type="title"/>
          </p:nvPr>
        </p:nvSpPr>
        <p:spPr>
          <a:xfrm>
            <a:off x="713225" y="3946875"/>
            <a:ext cx="7717500" cy="66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1"/>
          <p:cNvSpPr txBox="1">
            <a:spLocks noGrp="1"/>
          </p:cNvSpPr>
          <p:nvPr>
            <p:ph type="title" hasCustomPrompt="1"/>
          </p:nvPr>
        </p:nvSpPr>
        <p:spPr>
          <a:xfrm>
            <a:off x="1604400" y="1354558"/>
            <a:ext cx="5935200" cy="1844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7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9pPr>
          </a:lstStyle>
          <a:p>
            <a:r>
              <a:t>xx%</a:t>
            </a:r>
          </a:p>
        </p:txBody>
      </p:sp>
      <p:sp>
        <p:nvSpPr>
          <p:cNvPr id="79" name="Google Shape;79;p11"/>
          <p:cNvSpPr txBox="1">
            <a:spLocks noGrp="1"/>
          </p:cNvSpPr>
          <p:nvPr>
            <p:ph type="subTitle" idx="1"/>
          </p:nvPr>
        </p:nvSpPr>
        <p:spPr>
          <a:xfrm>
            <a:off x="1604400" y="3199142"/>
            <a:ext cx="5935200" cy="5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80" name="Google Shape;80;p11"/>
          <p:cNvSpPr/>
          <p:nvPr/>
        </p:nvSpPr>
        <p:spPr>
          <a:xfrm rot="10800000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81" name="Google Shape;81;p11"/>
          <p:cNvGrpSpPr/>
          <p:nvPr/>
        </p:nvGrpSpPr>
        <p:grpSpPr>
          <a:xfrm rot="10800000">
            <a:off x="-55325" y="0"/>
            <a:ext cx="9199325" cy="4604000"/>
            <a:chOff x="-55375" y="539500"/>
            <a:chExt cx="9199325" cy="4604000"/>
          </a:xfrm>
        </p:grpSpPr>
        <p:cxnSp>
          <p:nvCxnSpPr>
            <p:cNvPr id="82" name="Google Shape;82;p11"/>
            <p:cNvCxnSpPr/>
            <p:nvPr/>
          </p:nvCxnSpPr>
          <p:spPr>
            <a:xfrm>
              <a:off x="-55375" y="4608575"/>
              <a:ext cx="4563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3" name="Google Shape;83;p11"/>
            <p:cNvCxnSpPr/>
            <p:nvPr/>
          </p:nvCxnSpPr>
          <p:spPr>
            <a:xfrm>
              <a:off x="2576350" y="539500"/>
              <a:ext cx="65676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84;p11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5" name="Google Shape;85;p1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rgbClr val="FFFFFF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1"/>
          </p:nvPr>
        </p:nvSpPr>
        <p:spPr>
          <a:xfrm>
            <a:off x="1936100" y="2129352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subTitle" idx="2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3" hasCustomPrompt="1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subTitle" idx="4"/>
          </p:nvPr>
        </p:nvSpPr>
        <p:spPr>
          <a:xfrm>
            <a:off x="1936100" y="3827175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5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title" idx="6" hasCustomPrompt="1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7"/>
          </p:nvPr>
        </p:nvSpPr>
        <p:spPr>
          <a:xfrm>
            <a:off x="5969570" y="2129352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8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title" idx="9" hasCustomPrompt="1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99" name="Google Shape;99;p13"/>
          <p:cNvSpPr txBox="1">
            <a:spLocks noGrp="1"/>
          </p:cNvSpPr>
          <p:nvPr>
            <p:ph type="subTitle" idx="13"/>
          </p:nvPr>
        </p:nvSpPr>
        <p:spPr>
          <a:xfrm>
            <a:off x="5969570" y="3827175"/>
            <a:ext cx="22887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0" name="Google Shape;100;p13"/>
          <p:cNvSpPr txBox="1">
            <a:spLocks noGrp="1"/>
          </p:cNvSpPr>
          <p:nvPr>
            <p:ph type="subTitle" idx="14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15" hasCustomPrompt="1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cxnSp>
        <p:nvCxnSpPr>
          <p:cNvPr id="102" name="Google Shape;102;p1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3" name="Google Shape;103;p1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4"/>
          <p:cNvSpPr txBox="1">
            <a:spLocks noGrp="1"/>
          </p:cNvSpPr>
          <p:nvPr>
            <p:ph type="title"/>
          </p:nvPr>
        </p:nvSpPr>
        <p:spPr>
          <a:xfrm>
            <a:off x="783150" y="3920175"/>
            <a:ext cx="7577700" cy="55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24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subTitle" idx="1"/>
          </p:nvPr>
        </p:nvSpPr>
        <p:spPr>
          <a:xfrm>
            <a:off x="783150" y="1722374"/>
            <a:ext cx="7577700" cy="212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>
            <a:endParaRPr/>
          </a:p>
        </p:txBody>
      </p:sp>
      <p:cxnSp>
        <p:nvCxnSpPr>
          <p:cNvPr id="107" name="Google Shape;107;p14"/>
          <p:cNvCxnSpPr/>
          <p:nvPr/>
        </p:nvCxnSpPr>
        <p:spPr>
          <a:xfrm rot="10800000">
            <a:off x="75" y="4876025"/>
            <a:ext cx="8257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8" name="Google Shape;108;p1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1_1"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5"/>
          <p:cNvSpPr txBox="1">
            <a:spLocks noGrp="1"/>
          </p:cNvSpPr>
          <p:nvPr>
            <p:ph type="title"/>
          </p:nvPr>
        </p:nvSpPr>
        <p:spPr>
          <a:xfrm flipH="1">
            <a:off x="2052825" y="2036300"/>
            <a:ext cx="5579100" cy="14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>
            <a:endParaRPr/>
          </a:p>
        </p:txBody>
      </p:sp>
      <p:sp>
        <p:nvSpPr>
          <p:cNvPr id="111" name="Google Shape;111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555825" y="1012500"/>
            <a:ext cx="1076100" cy="870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 flipH="1">
            <a:off x="2052825" y="3573275"/>
            <a:ext cx="5579100" cy="6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sp>
        <p:nvSpPr>
          <p:cNvPr id="113" name="Google Shape;113;p15"/>
          <p:cNvSpPr/>
          <p:nvPr/>
        </p:nvSpPr>
        <p:spPr>
          <a:xfrm flipH="1">
            <a:off x="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14" name="Google Shape;114;p15"/>
          <p:cNvCxnSpPr/>
          <p:nvPr/>
        </p:nvCxnSpPr>
        <p:spPr>
          <a:xfrm rot="10800000">
            <a:off x="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5" name="Google Shape;115;p1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CUSTOM_2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16"/>
          <p:cNvSpPr txBox="1">
            <a:spLocks noGrp="1"/>
          </p:cNvSpPr>
          <p:nvPr>
            <p:ph type="subTitle" idx="1"/>
          </p:nvPr>
        </p:nvSpPr>
        <p:spPr>
          <a:xfrm>
            <a:off x="713225" y="358247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9" name="Google Shape;119;p16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1575103"/>
            <a:ext cx="2400300" cy="8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0" name="Google Shape;120;p16"/>
          <p:cNvSpPr txBox="1">
            <a:spLocks noGrp="1"/>
          </p:cNvSpPr>
          <p:nvPr>
            <p:ph type="subTitle" idx="3"/>
          </p:nvPr>
        </p:nvSpPr>
        <p:spPr>
          <a:xfrm>
            <a:off x="713225" y="2654575"/>
            <a:ext cx="24003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121" name="Google Shape;121;p16"/>
          <p:cNvSpPr txBox="1">
            <a:spLocks noGrp="1"/>
          </p:cNvSpPr>
          <p:nvPr>
            <p:ph type="subTitle" idx="4"/>
          </p:nvPr>
        </p:nvSpPr>
        <p:spPr>
          <a:xfrm>
            <a:off x="6030475" y="358247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2" name="Google Shape;122;p16"/>
          <p:cNvSpPr txBox="1">
            <a:spLocks noGrp="1"/>
          </p:cNvSpPr>
          <p:nvPr>
            <p:ph type="title" idx="5" hasCustomPrompt="1"/>
          </p:nvPr>
        </p:nvSpPr>
        <p:spPr>
          <a:xfrm>
            <a:off x="6030475" y="1575103"/>
            <a:ext cx="2400300" cy="8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3" name="Google Shape;123;p16"/>
          <p:cNvSpPr txBox="1">
            <a:spLocks noGrp="1"/>
          </p:cNvSpPr>
          <p:nvPr>
            <p:ph type="subTitle" idx="6"/>
          </p:nvPr>
        </p:nvSpPr>
        <p:spPr>
          <a:xfrm>
            <a:off x="6030475" y="2654575"/>
            <a:ext cx="24003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124" name="Google Shape;124;p16"/>
          <p:cNvSpPr txBox="1">
            <a:spLocks noGrp="1"/>
          </p:cNvSpPr>
          <p:nvPr>
            <p:ph type="subTitle" idx="7"/>
          </p:nvPr>
        </p:nvSpPr>
        <p:spPr>
          <a:xfrm>
            <a:off x="3371850" y="358247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5" name="Google Shape;125;p16"/>
          <p:cNvSpPr txBox="1">
            <a:spLocks noGrp="1"/>
          </p:cNvSpPr>
          <p:nvPr>
            <p:ph type="title" idx="8" hasCustomPrompt="1"/>
          </p:nvPr>
        </p:nvSpPr>
        <p:spPr>
          <a:xfrm>
            <a:off x="3371850" y="1575103"/>
            <a:ext cx="2400300" cy="800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26" name="Google Shape;126;p16"/>
          <p:cNvSpPr txBox="1">
            <a:spLocks noGrp="1"/>
          </p:cNvSpPr>
          <p:nvPr>
            <p:ph type="subTitle" idx="9"/>
          </p:nvPr>
        </p:nvSpPr>
        <p:spPr>
          <a:xfrm>
            <a:off x="3371850" y="2654575"/>
            <a:ext cx="2400300" cy="861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cxnSp>
        <p:nvCxnSpPr>
          <p:cNvPr id="127" name="Google Shape;127;p16"/>
          <p:cNvCxnSpPr/>
          <p:nvPr/>
        </p:nvCxnSpPr>
        <p:spPr>
          <a:xfrm rot="10800000">
            <a:off x="5035800" y="4797575"/>
            <a:ext cx="41082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8" name="Google Shape;128;p1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2_1_2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7"/>
          <p:cNvSpPr txBox="1">
            <a:spLocks noGrp="1"/>
          </p:cNvSpPr>
          <p:nvPr>
            <p:ph type="subTitle" idx="1"/>
          </p:nvPr>
        </p:nvSpPr>
        <p:spPr>
          <a:xfrm>
            <a:off x="2370900" y="1278125"/>
            <a:ext cx="44022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7"/>
          <p:cNvSpPr txBox="1">
            <a:spLocks noGrp="1"/>
          </p:cNvSpPr>
          <p:nvPr>
            <p:ph type="title" hasCustomPrompt="1"/>
          </p:nvPr>
        </p:nvSpPr>
        <p:spPr>
          <a:xfrm>
            <a:off x="2370900" y="572825"/>
            <a:ext cx="44022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2" name="Google Shape;132;p17"/>
          <p:cNvSpPr txBox="1">
            <a:spLocks noGrp="1"/>
          </p:cNvSpPr>
          <p:nvPr>
            <p:ph type="subTitle" idx="2"/>
          </p:nvPr>
        </p:nvSpPr>
        <p:spPr>
          <a:xfrm>
            <a:off x="2370900" y="4087875"/>
            <a:ext cx="44022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3" name="Google Shape;133;p17"/>
          <p:cNvSpPr txBox="1">
            <a:spLocks noGrp="1"/>
          </p:cNvSpPr>
          <p:nvPr>
            <p:ph type="title" idx="3" hasCustomPrompt="1"/>
          </p:nvPr>
        </p:nvSpPr>
        <p:spPr>
          <a:xfrm>
            <a:off x="2370900" y="3382575"/>
            <a:ext cx="44022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34" name="Google Shape;134;p17"/>
          <p:cNvSpPr txBox="1">
            <a:spLocks noGrp="1"/>
          </p:cNvSpPr>
          <p:nvPr>
            <p:ph type="subTitle" idx="4"/>
          </p:nvPr>
        </p:nvSpPr>
        <p:spPr>
          <a:xfrm>
            <a:off x="2370900" y="2683000"/>
            <a:ext cx="44022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5" name="Google Shape;135;p17"/>
          <p:cNvSpPr txBox="1">
            <a:spLocks noGrp="1"/>
          </p:cNvSpPr>
          <p:nvPr>
            <p:ph type="title" idx="5" hasCustomPrompt="1"/>
          </p:nvPr>
        </p:nvSpPr>
        <p:spPr>
          <a:xfrm>
            <a:off x="2370900" y="1977700"/>
            <a:ext cx="4402200" cy="738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36" name="Google Shape;136;p17"/>
          <p:cNvGrpSpPr/>
          <p:nvPr/>
        </p:nvGrpSpPr>
        <p:grpSpPr>
          <a:xfrm>
            <a:off x="711250" y="-125"/>
            <a:ext cx="7719525" cy="5143625"/>
            <a:chOff x="711250" y="-125"/>
            <a:chExt cx="7719525" cy="5143625"/>
          </a:xfrm>
        </p:grpSpPr>
        <p:cxnSp>
          <p:nvCxnSpPr>
            <p:cNvPr id="137" name="Google Shape;137;p17"/>
            <p:cNvCxnSpPr/>
            <p:nvPr/>
          </p:nvCxnSpPr>
          <p:spPr>
            <a:xfrm rot="10800000">
              <a:off x="711250" y="2191500"/>
              <a:ext cx="0" cy="2952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8" name="Google Shape;138;p17"/>
            <p:cNvCxnSpPr/>
            <p:nvPr/>
          </p:nvCxnSpPr>
          <p:spPr>
            <a:xfrm rot="10800000">
              <a:off x="8430775" y="-125"/>
              <a:ext cx="0" cy="2191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9" name="Google Shape;139;p1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2_1_1"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8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grpSp>
        <p:nvGrpSpPr>
          <p:cNvPr id="142" name="Google Shape;142;p18"/>
          <p:cNvGrpSpPr/>
          <p:nvPr/>
        </p:nvGrpSpPr>
        <p:grpSpPr>
          <a:xfrm flipH="1">
            <a:off x="0" y="4876025"/>
            <a:ext cx="9144000" cy="267600"/>
            <a:chOff x="0" y="4876025"/>
            <a:chExt cx="9144000" cy="267600"/>
          </a:xfrm>
        </p:grpSpPr>
        <p:sp>
          <p:nvSpPr>
            <p:cNvPr id="143" name="Google Shape;143;p18"/>
            <p:cNvSpPr/>
            <p:nvPr/>
          </p:nvSpPr>
          <p:spPr>
            <a:xfrm>
              <a:off x="0" y="4876025"/>
              <a:ext cx="9144000" cy="26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144" name="Google Shape;144;p1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5" name="Google Shape;145;p1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_1_1_2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cxnSp>
        <p:nvCxnSpPr>
          <p:cNvPr id="148" name="Google Shape;148;p19"/>
          <p:cNvCxnSpPr/>
          <p:nvPr/>
        </p:nvCxnSpPr>
        <p:spPr>
          <a:xfrm>
            <a:off x="0" y="262400"/>
            <a:ext cx="22860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9" name="Google Shape;149;p1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2_1_1_1"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20"/>
          <p:cNvGrpSpPr/>
          <p:nvPr/>
        </p:nvGrpSpPr>
        <p:grpSpPr>
          <a:xfrm>
            <a:off x="0" y="0"/>
            <a:ext cx="9144075" cy="5143500"/>
            <a:chOff x="0" y="0"/>
            <a:chExt cx="9144075" cy="5143500"/>
          </a:xfrm>
        </p:grpSpPr>
        <p:sp>
          <p:nvSpPr>
            <p:cNvPr id="152" name="Google Shape;152;p20"/>
            <p:cNvSpPr/>
            <p:nvPr/>
          </p:nvSpPr>
          <p:spPr>
            <a:xfrm>
              <a:off x="4185975" y="4426700"/>
              <a:ext cx="4958100" cy="71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" name="Google Shape;153;p20"/>
            <p:cNvSpPr/>
            <p:nvPr/>
          </p:nvSpPr>
          <p:spPr>
            <a:xfrm>
              <a:off x="0" y="0"/>
              <a:ext cx="852900" cy="514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4" name="Google Shape;154;p20"/>
          <p:cNvSpPr txBox="1">
            <a:spLocks noGrp="1"/>
          </p:cNvSpPr>
          <p:nvPr>
            <p:ph type="title"/>
          </p:nvPr>
        </p:nvSpPr>
        <p:spPr>
          <a:xfrm>
            <a:off x="4082225" y="544275"/>
            <a:ext cx="4224300" cy="12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92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>
            <a:endParaRPr/>
          </a:p>
        </p:txBody>
      </p:sp>
      <p:sp>
        <p:nvSpPr>
          <p:cNvPr id="155" name="Google Shape;155;p20"/>
          <p:cNvSpPr txBox="1">
            <a:spLocks noGrp="1"/>
          </p:cNvSpPr>
          <p:nvPr>
            <p:ph type="subTitle" idx="1"/>
          </p:nvPr>
        </p:nvSpPr>
        <p:spPr>
          <a:xfrm>
            <a:off x="4082150" y="1747875"/>
            <a:ext cx="4224300" cy="259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>
            <a:endParaRPr/>
          </a:p>
        </p:txBody>
      </p:sp>
      <p:grpSp>
        <p:nvGrpSpPr>
          <p:cNvPr id="156" name="Google Shape;156;p20"/>
          <p:cNvGrpSpPr/>
          <p:nvPr/>
        </p:nvGrpSpPr>
        <p:grpSpPr>
          <a:xfrm>
            <a:off x="150" y="539500"/>
            <a:ext cx="8430625" cy="4604000"/>
            <a:chOff x="150" y="539500"/>
            <a:chExt cx="8430625" cy="4604000"/>
          </a:xfrm>
        </p:grpSpPr>
        <p:cxnSp>
          <p:nvCxnSpPr>
            <p:cNvPr id="157" name="Google Shape;157;p20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" name="Google Shape;158;p20"/>
            <p:cNvCxnSpPr/>
            <p:nvPr/>
          </p:nvCxnSpPr>
          <p:spPr>
            <a:xfrm rot="10800000">
              <a:off x="150" y="539500"/>
              <a:ext cx="4336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9" name="Google Shape;159;p20"/>
          <p:cNvSpPr>
            <a:spLocks noGrp="1"/>
          </p:cNvSpPr>
          <p:nvPr>
            <p:ph type="pic" idx="2"/>
          </p:nvPr>
        </p:nvSpPr>
        <p:spPr>
          <a:xfrm>
            <a:off x="592075" y="544275"/>
            <a:ext cx="3312000" cy="3884100"/>
          </a:xfrm>
          <a:prstGeom prst="rect">
            <a:avLst/>
          </a:prstGeom>
          <a:noFill/>
          <a:ln>
            <a:noFill/>
          </a:ln>
        </p:spPr>
      </p:sp>
      <p:sp>
        <p:nvSpPr>
          <p:cNvPr id="160" name="Google Shape;160;p2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1"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1"/>
          <p:cNvSpPr txBox="1">
            <a:spLocks noGrp="1"/>
          </p:cNvSpPr>
          <p:nvPr>
            <p:ph type="body" idx="1"/>
          </p:nvPr>
        </p:nvSpPr>
        <p:spPr>
          <a:xfrm>
            <a:off x="1691100" y="1759300"/>
            <a:ext cx="5761800" cy="209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Char char="■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1"/>
          <p:cNvSpPr/>
          <p:nvPr/>
        </p:nvSpPr>
        <p:spPr>
          <a:xfrm flipH="1">
            <a:off x="0" y="487590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5" name="Google Shape;165;p21"/>
          <p:cNvGrpSpPr/>
          <p:nvPr/>
        </p:nvGrpSpPr>
        <p:grpSpPr>
          <a:xfrm>
            <a:off x="276825" y="267475"/>
            <a:ext cx="8860200" cy="4876025"/>
            <a:chOff x="276825" y="267475"/>
            <a:chExt cx="8860200" cy="4876025"/>
          </a:xfrm>
        </p:grpSpPr>
        <p:cxnSp>
          <p:nvCxnSpPr>
            <p:cNvPr id="166" name="Google Shape;166;p21"/>
            <p:cNvCxnSpPr/>
            <p:nvPr/>
          </p:nvCxnSpPr>
          <p:spPr>
            <a:xfrm rot="10800000">
              <a:off x="276825" y="2571900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67" name="Google Shape;167;p21"/>
            <p:cNvCxnSpPr/>
            <p:nvPr/>
          </p:nvCxnSpPr>
          <p:spPr>
            <a:xfrm>
              <a:off x="4565025" y="267475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68" name="Google Shape;168;p2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2_1_1_1_1_1"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2"/>
          <p:cNvSpPr txBox="1">
            <a:spLocks noGrp="1"/>
          </p:cNvSpPr>
          <p:nvPr>
            <p:ph type="title"/>
          </p:nvPr>
        </p:nvSpPr>
        <p:spPr>
          <a:xfrm>
            <a:off x="948325" y="1185562"/>
            <a:ext cx="4863300" cy="803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71" name="Google Shape;171;p22"/>
          <p:cNvSpPr txBox="1">
            <a:spLocks noGrp="1"/>
          </p:cNvSpPr>
          <p:nvPr>
            <p:ph type="subTitle" idx="1"/>
          </p:nvPr>
        </p:nvSpPr>
        <p:spPr>
          <a:xfrm>
            <a:off x="948325" y="2112038"/>
            <a:ext cx="4863300" cy="184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72" name="Google Shape;172;p22"/>
          <p:cNvSpPr/>
          <p:nvPr/>
        </p:nvSpPr>
        <p:spPr>
          <a:xfrm rot="10800000" flipH="1"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73" name="Google Shape;173;p22"/>
          <p:cNvGrpSpPr/>
          <p:nvPr/>
        </p:nvGrpSpPr>
        <p:grpSpPr>
          <a:xfrm rot="10800000" flipH="1">
            <a:off x="-55375" y="0"/>
            <a:ext cx="9199250" cy="4604000"/>
            <a:chOff x="-55375" y="539500"/>
            <a:chExt cx="9199250" cy="4604000"/>
          </a:xfrm>
        </p:grpSpPr>
        <p:cxnSp>
          <p:nvCxnSpPr>
            <p:cNvPr id="174" name="Google Shape;174;p22"/>
            <p:cNvCxnSpPr/>
            <p:nvPr/>
          </p:nvCxnSpPr>
          <p:spPr>
            <a:xfrm>
              <a:off x="-55375" y="4608575"/>
              <a:ext cx="45717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" name="Google Shape;175;p22"/>
            <p:cNvCxnSpPr/>
            <p:nvPr/>
          </p:nvCxnSpPr>
          <p:spPr>
            <a:xfrm>
              <a:off x="4585075" y="539500"/>
              <a:ext cx="4558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6" name="Google Shape;176;p2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7" name="Google Shape;177;p2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CUSTOM_2_1_1_1_1_1_1"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3"/>
          <p:cNvSpPr txBox="1">
            <a:spLocks noGrp="1"/>
          </p:cNvSpPr>
          <p:nvPr>
            <p:ph type="title"/>
          </p:nvPr>
        </p:nvSpPr>
        <p:spPr>
          <a:xfrm>
            <a:off x="1262175" y="1023602"/>
            <a:ext cx="2890500" cy="1678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80" name="Google Shape;180;p23"/>
          <p:cNvSpPr txBox="1">
            <a:spLocks noGrp="1"/>
          </p:cNvSpPr>
          <p:nvPr>
            <p:ph type="subTitle" idx="1"/>
          </p:nvPr>
        </p:nvSpPr>
        <p:spPr>
          <a:xfrm>
            <a:off x="1262175" y="2702272"/>
            <a:ext cx="2890500" cy="141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1" name="Google Shape;181;p23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82" name="Google Shape;182;p23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183" name="Google Shape;183;p23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4" name="Google Shape;184;p23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5" name="Google Shape;185;p2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2_1_1_1_1_1_1_1"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4"/>
          <p:cNvSpPr txBox="1">
            <a:spLocks noGrp="1"/>
          </p:cNvSpPr>
          <p:nvPr>
            <p:ph type="title"/>
          </p:nvPr>
        </p:nvSpPr>
        <p:spPr>
          <a:xfrm>
            <a:off x="4746800" y="1023600"/>
            <a:ext cx="2630100" cy="1521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algn="r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24"/>
          <p:cNvSpPr txBox="1">
            <a:spLocks noGrp="1"/>
          </p:cNvSpPr>
          <p:nvPr>
            <p:ph type="subTitle" idx="1"/>
          </p:nvPr>
        </p:nvSpPr>
        <p:spPr>
          <a:xfrm>
            <a:off x="4746800" y="2545055"/>
            <a:ext cx="2630100" cy="157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89" name="Google Shape;189;p24"/>
          <p:cNvGrpSpPr/>
          <p:nvPr/>
        </p:nvGrpSpPr>
        <p:grpSpPr>
          <a:xfrm flipH="1">
            <a:off x="0" y="0"/>
            <a:ext cx="9144075" cy="5143500"/>
            <a:chOff x="0" y="0"/>
            <a:chExt cx="9144075" cy="5143500"/>
          </a:xfrm>
        </p:grpSpPr>
        <p:grpSp>
          <p:nvGrpSpPr>
            <p:cNvPr id="190" name="Google Shape;190;p24"/>
            <p:cNvGrpSpPr/>
            <p:nvPr/>
          </p:nvGrpSpPr>
          <p:grpSpPr>
            <a:xfrm>
              <a:off x="0" y="0"/>
              <a:ext cx="9144075" cy="5143500"/>
              <a:chOff x="0" y="0"/>
              <a:chExt cx="9144075" cy="5143500"/>
            </a:xfrm>
          </p:grpSpPr>
          <p:sp>
            <p:nvSpPr>
              <p:cNvPr id="191" name="Google Shape;191;p24"/>
              <p:cNvSpPr/>
              <p:nvPr/>
            </p:nvSpPr>
            <p:spPr>
              <a:xfrm>
                <a:off x="4185975" y="4608575"/>
                <a:ext cx="4958100" cy="529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2" name="Google Shape;192;p24"/>
              <p:cNvSpPr/>
              <p:nvPr/>
            </p:nvSpPr>
            <p:spPr>
              <a:xfrm>
                <a:off x="0" y="0"/>
                <a:ext cx="852900" cy="5143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93" name="Google Shape;193;p24"/>
            <p:cNvGrpSpPr/>
            <p:nvPr/>
          </p:nvGrpSpPr>
          <p:grpSpPr>
            <a:xfrm>
              <a:off x="150" y="539500"/>
              <a:ext cx="8430625" cy="4604000"/>
              <a:chOff x="150" y="539500"/>
              <a:chExt cx="8430625" cy="4604000"/>
            </a:xfrm>
          </p:grpSpPr>
          <p:cxnSp>
            <p:nvCxnSpPr>
              <p:cNvPr id="194" name="Google Shape;194;p24"/>
              <p:cNvCxnSpPr/>
              <p:nvPr/>
            </p:nvCxnSpPr>
            <p:spPr>
              <a:xfrm rot="10800000">
                <a:off x="8430775" y="805200"/>
                <a:ext cx="0" cy="433830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195" name="Google Shape;195;p24"/>
              <p:cNvCxnSpPr/>
              <p:nvPr/>
            </p:nvCxnSpPr>
            <p:spPr>
              <a:xfrm rot="10800000">
                <a:off x="150" y="539500"/>
                <a:ext cx="43368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sp>
        <p:nvSpPr>
          <p:cNvPr id="196" name="Google Shape;196;p2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3"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5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199" name="Google Shape;199;p25"/>
          <p:cNvSpPr txBox="1">
            <a:spLocks noGrp="1"/>
          </p:cNvSpPr>
          <p:nvPr>
            <p:ph type="body" idx="1"/>
          </p:nvPr>
        </p:nvSpPr>
        <p:spPr>
          <a:xfrm>
            <a:off x="713225" y="1682875"/>
            <a:ext cx="3780900" cy="27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>
            <a:endParaRPr/>
          </a:p>
        </p:txBody>
      </p:sp>
      <p:sp>
        <p:nvSpPr>
          <p:cNvPr id="200" name="Google Shape;200;p25"/>
          <p:cNvSpPr txBox="1">
            <a:spLocks noGrp="1"/>
          </p:cNvSpPr>
          <p:nvPr>
            <p:ph type="body" idx="2"/>
          </p:nvPr>
        </p:nvSpPr>
        <p:spPr>
          <a:xfrm>
            <a:off x="4651325" y="1682875"/>
            <a:ext cx="3780900" cy="273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11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■"/>
              <a:defRPr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>
            <a:endParaRPr/>
          </a:p>
        </p:txBody>
      </p:sp>
      <p:sp>
        <p:nvSpPr>
          <p:cNvPr id="201" name="Google Shape;201;p25"/>
          <p:cNvSpPr txBox="1">
            <a:spLocks noGrp="1"/>
          </p:cNvSpPr>
          <p:nvPr>
            <p:ph type="subTitle" idx="3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2" name="Google Shape;202;p25"/>
          <p:cNvSpPr/>
          <p:nvPr/>
        </p:nvSpPr>
        <p:spPr>
          <a:xfrm flipH="1">
            <a:off x="71340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03" name="Google Shape;203;p25"/>
          <p:cNvGrpSpPr/>
          <p:nvPr/>
        </p:nvGrpSpPr>
        <p:grpSpPr>
          <a:xfrm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204" name="Google Shape;204;p25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5" name="Google Shape;205;p25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6" name="Google Shape;206;p2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CUSTOM_3_1"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26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09" name="Google Shape;209;p26"/>
          <p:cNvSpPr txBox="1">
            <a:spLocks noGrp="1"/>
          </p:cNvSpPr>
          <p:nvPr>
            <p:ph type="subTitle" idx="1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26"/>
          <p:cNvSpPr txBox="1">
            <a:spLocks noGrp="1"/>
          </p:cNvSpPr>
          <p:nvPr>
            <p:ph type="subTitle" idx="2"/>
          </p:nvPr>
        </p:nvSpPr>
        <p:spPr>
          <a:xfrm>
            <a:off x="4836725" y="1964500"/>
            <a:ext cx="3200400" cy="188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1" name="Google Shape;211;p26"/>
          <p:cNvSpPr/>
          <p:nvPr/>
        </p:nvSpPr>
        <p:spPr>
          <a:xfrm rot="10800000">
            <a:off x="8860200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12" name="Google Shape;212;p26"/>
          <p:cNvGrpSpPr/>
          <p:nvPr/>
        </p:nvGrpSpPr>
        <p:grpSpPr>
          <a:xfrm rot="10800000">
            <a:off x="-125" y="267450"/>
            <a:ext cx="9002225" cy="4876050"/>
            <a:chOff x="141900" y="-26"/>
            <a:chExt cx="9002225" cy="4876050"/>
          </a:xfrm>
        </p:grpSpPr>
        <p:cxnSp>
          <p:nvCxnSpPr>
            <p:cNvPr id="213" name="Google Shape;213;p26"/>
            <p:cNvCxnSpPr/>
            <p:nvPr/>
          </p:nvCxnSpPr>
          <p:spPr>
            <a:xfrm>
              <a:off x="7404125" y="4876024"/>
              <a:ext cx="1740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4" name="Google Shape;214;p2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5" name="Google Shape;215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CUSTOM_4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7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27"/>
          <p:cNvSpPr txBox="1">
            <a:spLocks noGrp="1"/>
          </p:cNvSpPr>
          <p:nvPr>
            <p:ph type="subTitle" idx="1"/>
          </p:nvPr>
        </p:nvSpPr>
        <p:spPr>
          <a:xfrm>
            <a:off x="713263" y="340652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27"/>
          <p:cNvSpPr txBox="1">
            <a:spLocks noGrp="1"/>
          </p:cNvSpPr>
          <p:nvPr>
            <p:ph type="subTitle" idx="2"/>
          </p:nvPr>
        </p:nvSpPr>
        <p:spPr>
          <a:xfrm>
            <a:off x="713263" y="2785375"/>
            <a:ext cx="24003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20" name="Google Shape;220;p27"/>
          <p:cNvSpPr txBox="1">
            <a:spLocks noGrp="1"/>
          </p:cNvSpPr>
          <p:nvPr>
            <p:ph type="subTitle" idx="3"/>
          </p:nvPr>
        </p:nvSpPr>
        <p:spPr>
          <a:xfrm>
            <a:off x="6030438" y="340652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1" name="Google Shape;221;p27"/>
          <p:cNvSpPr txBox="1">
            <a:spLocks noGrp="1"/>
          </p:cNvSpPr>
          <p:nvPr>
            <p:ph type="subTitle" idx="4"/>
          </p:nvPr>
        </p:nvSpPr>
        <p:spPr>
          <a:xfrm>
            <a:off x="6030438" y="2782400"/>
            <a:ext cx="24003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22" name="Google Shape;222;p27"/>
          <p:cNvSpPr txBox="1">
            <a:spLocks noGrp="1"/>
          </p:cNvSpPr>
          <p:nvPr>
            <p:ph type="subTitle" idx="5"/>
          </p:nvPr>
        </p:nvSpPr>
        <p:spPr>
          <a:xfrm>
            <a:off x="3371850" y="3406527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3" name="Google Shape;223;p27"/>
          <p:cNvSpPr txBox="1">
            <a:spLocks noGrp="1"/>
          </p:cNvSpPr>
          <p:nvPr>
            <p:ph type="subTitle" idx="6"/>
          </p:nvPr>
        </p:nvSpPr>
        <p:spPr>
          <a:xfrm>
            <a:off x="3371850" y="2782400"/>
            <a:ext cx="2400300" cy="554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24" name="Google Shape;224;p27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CUSTOM_5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28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27" name="Google Shape;227;p28"/>
          <p:cNvSpPr txBox="1">
            <a:spLocks noGrp="1"/>
          </p:cNvSpPr>
          <p:nvPr>
            <p:ph type="subTitle" idx="1"/>
          </p:nvPr>
        </p:nvSpPr>
        <p:spPr>
          <a:xfrm>
            <a:off x="865625" y="3694227"/>
            <a:ext cx="22626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28"/>
          <p:cNvSpPr txBox="1">
            <a:spLocks noGrp="1"/>
          </p:cNvSpPr>
          <p:nvPr>
            <p:ph type="subTitle" idx="2"/>
          </p:nvPr>
        </p:nvSpPr>
        <p:spPr>
          <a:xfrm>
            <a:off x="865625" y="3103975"/>
            <a:ext cx="22626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29" name="Google Shape;229;p28"/>
          <p:cNvSpPr txBox="1">
            <a:spLocks noGrp="1"/>
          </p:cNvSpPr>
          <p:nvPr>
            <p:ph type="subTitle" idx="3"/>
          </p:nvPr>
        </p:nvSpPr>
        <p:spPr>
          <a:xfrm>
            <a:off x="6015775" y="3694227"/>
            <a:ext cx="22626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0" name="Google Shape;230;p28"/>
          <p:cNvSpPr txBox="1">
            <a:spLocks noGrp="1"/>
          </p:cNvSpPr>
          <p:nvPr>
            <p:ph type="subTitle" idx="4"/>
          </p:nvPr>
        </p:nvSpPr>
        <p:spPr>
          <a:xfrm>
            <a:off x="6015775" y="3103975"/>
            <a:ext cx="22626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31" name="Google Shape;231;p28"/>
          <p:cNvSpPr txBox="1">
            <a:spLocks noGrp="1"/>
          </p:cNvSpPr>
          <p:nvPr>
            <p:ph type="subTitle" idx="5"/>
          </p:nvPr>
        </p:nvSpPr>
        <p:spPr>
          <a:xfrm>
            <a:off x="3440700" y="3694227"/>
            <a:ext cx="2262600" cy="64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2" name="Google Shape;232;p28"/>
          <p:cNvSpPr txBox="1">
            <a:spLocks noGrp="1"/>
          </p:cNvSpPr>
          <p:nvPr>
            <p:ph type="subTitle" idx="6"/>
          </p:nvPr>
        </p:nvSpPr>
        <p:spPr>
          <a:xfrm>
            <a:off x="3440700" y="3103975"/>
            <a:ext cx="22626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33" name="Google Shape;233;p28"/>
          <p:cNvSpPr/>
          <p:nvPr/>
        </p:nvSpPr>
        <p:spPr>
          <a:xfrm>
            <a:off x="0" y="4876025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34" name="Google Shape;234;p28"/>
          <p:cNvGrpSpPr/>
          <p:nvPr/>
        </p:nvGrpSpPr>
        <p:grpSpPr>
          <a:xfrm>
            <a:off x="283800" y="-48"/>
            <a:ext cx="8860200" cy="5009873"/>
            <a:chOff x="283800" y="-48"/>
            <a:chExt cx="8860200" cy="5009873"/>
          </a:xfrm>
        </p:grpSpPr>
        <p:cxnSp>
          <p:nvCxnSpPr>
            <p:cNvPr id="235" name="Google Shape;235;p2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36" name="Google Shape;236;p28"/>
            <p:cNvCxnSpPr/>
            <p:nvPr/>
          </p:nvCxnSpPr>
          <p:spPr>
            <a:xfrm rot="10800000">
              <a:off x="283800" y="-48"/>
              <a:ext cx="0" cy="29193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37" name="Google Shape;237;p28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6"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9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40" name="Google Shape;240;p29"/>
          <p:cNvSpPr txBox="1">
            <a:spLocks noGrp="1"/>
          </p:cNvSpPr>
          <p:nvPr>
            <p:ph type="subTitle" idx="1"/>
          </p:nvPr>
        </p:nvSpPr>
        <p:spPr>
          <a:xfrm>
            <a:off x="1877250" y="1850002"/>
            <a:ext cx="23187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1" name="Google Shape;241;p29"/>
          <p:cNvSpPr txBox="1">
            <a:spLocks noGrp="1"/>
          </p:cNvSpPr>
          <p:nvPr>
            <p:ph type="subTitle" idx="2"/>
          </p:nvPr>
        </p:nvSpPr>
        <p:spPr>
          <a:xfrm>
            <a:off x="1877250" y="1375200"/>
            <a:ext cx="23187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2" name="Google Shape;242;p29"/>
          <p:cNvSpPr txBox="1">
            <a:spLocks noGrp="1"/>
          </p:cNvSpPr>
          <p:nvPr>
            <p:ph type="subTitle" idx="3"/>
          </p:nvPr>
        </p:nvSpPr>
        <p:spPr>
          <a:xfrm>
            <a:off x="1877250" y="3515601"/>
            <a:ext cx="23187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3" name="Google Shape;243;p29"/>
          <p:cNvSpPr txBox="1">
            <a:spLocks noGrp="1"/>
          </p:cNvSpPr>
          <p:nvPr>
            <p:ph type="subTitle" idx="4"/>
          </p:nvPr>
        </p:nvSpPr>
        <p:spPr>
          <a:xfrm>
            <a:off x="1877250" y="3040799"/>
            <a:ext cx="23187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4" name="Google Shape;244;p29"/>
          <p:cNvSpPr txBox="1">
            <a:spLocks noGrp="1"/>
          </p:cNvSpPr>
          <p:nvPr>
            <p:ph type="subTitle" idx="5"/>
          </p:nvPr>
        </p:nvSpPr>
        <p:spPr>
          <a:xfrm>
            <a:off x="6112075" y="1850002"/>
            <a:ext cx="23187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29"/>
          <p:cNvSpPr txBox="1">
            <a:spLocks noGrp="1"/>
          </p:cNvSpPr>
          <p:nvPr>
            <p:ph type="subTitle" idx="6"/>
          </p:nvPr>
        </p:nvSpPr>
        <p:spPr>
          <a:xfrm>
            <a:off x="6112075" y="1375200"/>
            <a:ext cx="23187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6" name="Google Shape;246;p29"/>
          <p:cNvSpPr txBox="1">
            <a:spLocks noGrp="1"/>
          </p:cNvSpPr>
          <p:nvPr>
            <p:ph type="subTitle" idx="7"/>
          </p:nvPr>
        </p:nvSpPr>
        <p:spPr>
          <a:xfrm>
            <a:off x="6112075" y="3515601"/>
            <a:ext cx="23187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7" name="Google Shape;247;p29"/>
          <p:cNvSpPr txBox="1">
            <a:spLocks noGrp="1"/>
          </p:cNvSpPr>
          <p:nvPr>
            <p:ph type="subTitle" idx="8"/>
          </p:nvPr>
        </p:nvSpPr>
        <p:spPr>
          <a:xfrm>
            <a:off x="6112075" y="3040799"/>
            <a:ext cx="23187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48" name="Google Shape;248;p29"/>
          <p:cNvSpPr/>
          <p:nvPr/>
        </p:nvSpPr>
        <p:spPr>
          <a:xfrm flipH="1">
            <a:off x="886020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49" name="Google Shape;249;p29"/>
          <p:cNvCxnSpPr/>
          <p:nvPr/>
        </p:nvCxnSpPr>
        <p:spPr>
          <a:xfrm rot="10800000">
            <a:off x="9002100" y="-26"/>
            <a:ext cx="0" cy="3958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50" name="Google Shape;250;p29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ive columns">
  <p:cSld name="CUSTOM_6_1">
    <p:spTree>
      <p:nvGrpSpPr>
        <p:cNvPr id="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53" name="Google Shape;253;p30"/>
          <p:cNvSpPr txBox="1">
            <a:spLocks noGrp="1"/>
          </p:cNvSpPr>
          <p:nvPr>
            <p:ph type="subTitle" idx="1"/>
          </p:nvPr>
        </p:nvSpPr>
        <p:spPr>
          <a:xfrm>
            <a:off x="713250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4" name="Google Shape;254;p30"/>
          <p:cNvSpPr txBox="1">
            <a:spLocks noGrp="1"/>
          </p:cNvSpPr>
          <p:nvPr>
            <p:ph type="subTitle" idx="2"/>
          </p:nvPr>
        </p:nvSpPr>
        <p:spPr>
          <a:xfrm>
            <a:off x="713250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55" name="Google Shape;255;p30"/>
          <p:cNvSpPr txBox="1">
            <a:spLocks noGrp="1"/>
          </p:cNvSpPr>
          <p:nvPr>
            <p:ph type="subTitle" idx="3"/>
          </p:nvPr>
        </p:nvSpPr>
        <p:spPr>
          <a:xfrm>
            <a:off x="6030450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6" name="Google Shape;256;p30"/>
          <p:cNvSpPr txBox="1">
            <a:spLocks noGrp="1"/>
          </p:cNvSpPr>
          <p:nvPr>
            <p:ph type="subTitle" idx="4"/>
          </p:nvPr>
        </p:nvSpPr>
        <p:spPr>
          <a:xfrm>
            <a:off x="6030450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57" name="Google Shape;257;p30"/>
          <p:cNvSpPr txBox="1">
            <a:spLocks noGrp="1"/>
          </p:cNvSpPr>
          <p:nvPr>
            <p:ph type="subTitle" idx="5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8" name="Google Shape;258;p30"/>
          <p:cNvSpPr txBox="1">
            <a:spLocks noGrp="1"/>
          </p:cNvSpPr>
          <p:nvPr>
            <p:ph type="subTitle" idx="6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59" name="Google Shape;259;p30"/>
          <p:cNvSpPr txBox="1">
            <a:spLocks noGrp="1"/>
          </p:cNvSpPr>
          <p:nvPr>
            <p:ph type="subTitle" idx="7"/>
          </p:nvPr>
        </p:nvSpPr>
        <p:spPr>
          <a:xfrm>
            <a:off x="2042531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0" name="Google Shape;260;p30"/>
          <p:cNvSpPr txBox="1">
            <a:spLocks noGrp="1"/>
          </p:cNvSpPr>
          <p:nvPr>
            <p:ph type="subTitle" idx="8"/>
          </p:nvPr>
        </p:nvSpPr>
        <p:spPr>
          <a:xfrm>
            <a:off x="2042531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61" name="Google Shape;261;p30"/>
          <p:cNvSpPr txBox="1">
            <a:spLocks noGrp="1"/>
          </p:cNvSpPr>
          <p:nvPr>
            <p:ph type="subTitle" idx="9"/>
          </p:nvPr>
        </p:nvSpPr>
        <p:spPr>
          <a:xfrm>
            <a:off x="4701169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2" name="Google Shape;262;p30"/>
          <p:cNvSpPr txBox="1">
            <a:spLocks noGrp="1"/>
          </p:cNvSpPr>
          <p:nvPr>
            <p:ph type="subTitle" idx="13"/>
          </p:nvPr>
        </p:nvSpPr>
        <p:spPr>
          <a:xfrm>
            <a:off x="4701169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63" name="Google Shape;263;p30"/>
          <p:cNvSpPr/>
          <p:nvPr/>
        </p:nvSpPr>
        <p:spPr>
          <a:xfrm>
            <a:off x="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4" name="Google Shape;264;p30"/>
          <p:cNvGrpSpPr/>
          <p:nvPr/>
        </p:nvGrpSpPr>
        <p:grpSpPr>
          <a:xfrm flipH="1"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265" name="Google Shape;265;p30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6" name="Google Shape;266;p30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7" name="Google Shape;267;p30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CUSTOM_7_1">
    <p:spTree>
      <p:nvGrpSpPr>
        <p:cNvPr id="1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31"/>
          <p:cNvSpPr txBox="1">
            <a:spLocks noGrp="1"/>
          </p:cNvSpPr>
          <p:nvPr>
            <p:ph type="subTitle" idx="1"/>
          </p:nvPr>
        </p:nvSpPr>
        <p:spPr>
          <a:xfrm>
            <a:off x="713244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1" name="Google Shape;271;p31"/>
          <p:cNvSpPr txBox="1">
            <a:spLocks noGrp="1"/>
          </p:cNvSpPr>
          <p:nvPr>
            <p:ph type="subTitle" idx="2"/>
          </p:nvPr>
        </p:nvSpPr>
        <p:spPr>
          <a:xfrm>
            <a:off x="713244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72" name="Google Shape;272;p31"/>
          <p:cNvSpPr txBox="1">
            <a:spLocks noGrp="1"/>
          </p:cNvSpPr>
          <p:nvPr>
            <p:ph type="subTitle" idx="3"/>
          </p:nvPr>
        </p:nvSpPr>
        <p:spPr>
          <a:xfrm>
            <a:off x="6030456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3" name="Google Shape;273;p31"/>
          <p:cNvSpPr txBox="1">
            <a:spLocks noGrp="1"/>
          </p:cNvSpPr>
          <p:nvPr>
            <p:ph type="subTitle" idx="4"/>
          </p:nvPr>
        </p:nvSpPr>
        <p:spPr>
          <a:xfrm>
            <a:off x="6030456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74" name="Google Shape;274;p31"/>
          <p:cNvSpPr txBox="1">
            <a:spLocks noGrp="1"/>
          </p:cNvSpPr>
          <p:nvPr>
            <p:ph type="subTitle" idx="5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5" name="Google Shape;275;p31"/>
          <p:cNvSpPr txBox="1">
            <a:spLocks noGrp="1"/>
          </p:cNvSpPr>
          <p:nvPr>
            <p:ph type="subTitle" idx="6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76" name="Google Shape;276;p31"/>
          <p:cNvSpPr txBox="1">
            <a:spLocks noGrp="1"/>
          </p:cNvSpPr>
          <p:nvPr>
            <p:ph type="subTitle" idx="7"/>
          </p:nvPr>
        </p:nvSpPr>
        <p:spPr>
          <a:xfrm>
            <a:off x="713244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7" name="Google Shape;277;p31"/>
          <p:cNvSpPr txBox="1">
            <a:spLocks noGrp="1"/>
          </p:cNvSpPr>
          <p:nvPr>
            <p:ph type="subTitle" idx="8"/>
          </p:nvPr>
        </p:nvSpPr>
        <p:spPr>
          <a:xfrm>
            <a:off x="713244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78" name="Google Shape;278;p31"/>
          <p:cNvSpPr txBox="1">
            <a:spLocks noGrp="1"/>
          </p:cNvSpPr>
          <p:nvPr>
            <p:ph type="subTitle" idx="9"/>
          </p:nvPr>
        </p:nvSpPr>
        <p:spPr>
          <a:xfrm>
            <a:off x="3371850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9" name="Google Shape;279;p31"/>
          <p:cNvSpPr txBox="1">
            <a:spLocks noGrp="1"/>
          </p:cNvSpPr>
          <p:nvPr>
            <p:ph type="subTitle" idx="13"/>
          </p:nvPr>
        </p:nvSpPr>
        <p:spPr>
          <a:xfrm>
            <a:off x="3371850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80" name="Google Shape;280;p31"/>
          <p:cNvSpPr txBox="1">
            <a:spLocks noGrp="1"/>
          </p:cNvSpPr>
          <p:nvPr>
            <p:ph type="subTitle" idx="14"/>
          </p:nvPr>
        </p:nvSpPr>
        <p:spPr>
          <a:xfrm>
            <a:off x="6030456" y="1850002"/>
            <a:ext cx="2400300" cy="89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1" name="Google Shape;281;p31"/>
          <p:cNvSpPr txBox="1">
            <a:spLocks noGrp="1"/>
          </p:cNvSpPr>
          <p:nvPr>
            <p:ph type="subTitle" idx="15"/>
          </p:nvPr>
        </p:nvSpPr>
        <p:spPr>
          <a:xfrm>
            <a:off x="6030456" y="1375200"/>
            <a:ext cx="2400300" cy="52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>
            <a:endParaRPr/>
          </a:p>
        </p:txBody>
      </p:sp>
      <p:sp>
        <p:nvSpPr>
          <p:cNvPr id="282" name="Google Shape;282;p31"/>
          <p:cNvSpPr/>
          <p:nvPr/>
        </p:nvSpPr>
        <p:spPr>
          <a:xfrm rot="10800000" flipH="1">
            <a:off x="25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83" name="Google Shape;283;p31"/>
          <p:cNvGrpSpPr/>
          <p:nvPr/>
        </p:nvGrpSpPr>
        <p:grpSpPr>
          <a:xfrm rot="10800000" flipH="1">
            <a:off x="141925" y="267450"/>
            <a:ext cx="9001950" cy="4876050"/>
            <a:chOff x="141900" y="-26"/>
            <a:chExt cx="9001950" cy="4876050"/>
          </a:xfrm>
        </p:grpSpPr>
        <p:cxnSp>
          <p:nvCxnSpPr>
            <p:cNvPr id="284" name="Google Shape;284;p31"/>
            <p:cNvCxnSpPr/>
            <p:nvPr/>
          </p:nvCxnSpPr>
          <p:spPr>
            <a:xfrm>
              <a:off x="7907850" y="4876024"/>
              <a:ext cx="12360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85" name="Google Shape;285;p31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86" name="Google Shape;286;p3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8"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2"/>
          <p:cNvSpPr txBox="1">
            <a:spLocks noGrp="1"/>
          </p:cNvSpPr>
          <p:nvPr>
            <p:ph type="title"/>
          </p:nvPr>
        </p:nvSpPr>
        <p:spPr>
          <a:xfrm>
            <a:off x="2654700" y="530250"/>
            <a:ext cx="38346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>
            <a:endParaRPr/>
          </a:p>
        </p:txBody>
      </p:sp>
      <p:sp>
        <p:nvSpPr>
          <p:cNvPr id="289" name="Google Shape;289;p32"/>
          <p:cNvSpPr txBox="1">
            <a:spLocks noGrp="1"/>
          </p:cNvSpPr>
          <p:nvPr>
            <p:ph type="subTitle" idx="1"/>
          </p:nvPr>
        </p:nvSpPr>
        <p:spPr>
          <a:xfrm>
            <a:off x="2654700" y="2342156"/>
            <a:ext cx="3834600" cy="9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550" b="1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sz="1650" b="1"/>
            </a:lvl9pPr>
          </a:lstStyle>
          <a:p>
            <a:endParaRPr/>
          </a:p>
        </p:txBody>
      </p:sp>
      <p:sp>
        <p:nvSpPr>
          <p:cNvPr id="290" name="Google Shape;290;p32"/>
          <p:cNvSpPr txBox="1">
            <a:spLocks noGrp="1"/>
          </p:cNvSpPr>
          <p:nvPr>
            <p:ph type="subTitle" idx="2"/>
          </p:nvPr>
        </p:nvSpPr>
        <p:spPr>
          <a:xfrm>
            <a:off x="2654700" y="4111851"/>
            <a:ext cx="3834600" cy="33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000"/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 b="1"/>
            </a:lvl9pPr>
          </a:lstStyle>
          <a:p>
            <a:endParaRPr/>
          </a:p>
        </p:txBody>
      </p:sp>
      <p:grpSp>
        <p:nvGrpSpPr>
          <p:cNvPr id="291" name="Google Shape;291;p32"/>
          <p:cNvGrpSpPr/>
          <p:nvPr/>
        </p:nvGrpSpPr>
        <p:grpSpPr>
          <a:xfrm>
            <a:off x="713688" y="2579400"/>
            <a:ext cx="8430488" cy="2564100"/>
            <a:chOff x="713688" y="2579400"/>
            <a:chExt cx="8430488" cy="2564100"/>
          </a:xfrm>
        </p:grpSpPr>
        <p:cxnSp>
          <p:nvCxnSpPr>
            <p:cNvPr id="292" name="Google Shape;292;p32"/>
            <p:cNvCxnSpPr/>
            <p:nvPr/>
          </p:nvCxnSpPr>
          <p:spPr>
            <a:xfrm>
              <a:off x="2839075" y="4876025"/>
              <a:ext cx="63051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93" name="Google Shape;293;p32"/>
            <p:cNvCxnSpPr/>
            <p:nvPr/>
          </p:nvCxnSpPr>
          <p:spPr>
            <a:xfrm rot="10800000">
              <a:off x="713688" y="2579400"/>
              <a:ext cx="0" cy="25641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94" name="Google Shape;294;p32"/>
          <p:cNvSpPr txBox="1"/>
          <p:nvPr/>
        </p:nvSpPr>
        <p:spPr>
          <a:xfrm>
            <a:off x="2654700" y="3304597"/>
            <a:ext cx="38346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Credits: This presentation template was created by </a:t>
            </a:r>
            <a:r>
              <a:rPr lang="en" sz="1200" b="1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, and includes icons, infographics &amp; images by </a:t>
            </a:r>
            <a:r>
              <a:rPr lang="en" sz="1200" b="1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2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295" name="Google Shape;295;p32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9"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7" name="Google Shape;297;p3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98" name="Google Shape;298;p3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99" name="Google Shape;299;p3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00" name="Google Shape;300;p33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1" name="Google Shape;301;p33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"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4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04" name="Google Shape;304;p34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305" name="Google Shape;305;p34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6" name="Google Shape;306;p34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07" name="Google Shape;307;p34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theme" Target="../theme/theme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4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3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microsoft.com/office/2007/relationships/hdphoto" Target="../media/hdphoto2.wdp"/><Relationship Id="rId5" Type="http://schemas.openxmlformats.org/officeDocument/2006/relationships/image" Target="../media/image12.png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35"/>
          <p:cNvSpPr txBox="1">
            <a:spLocks noGrp="1"/>
          </p:cNvSpPr>
          <p:nvPr>
            <p:ph type="ctrTitle"/>
          </p:nvPr>
        </p:nvSpPr>
        <p:spPr>
          <a:xfrm>
            <a:off x="538025" y="1981972"/>
            <a:ext cx="7608300" cy="1179556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 algn="ctr">
              <a:lnSpc>
                <a:spcPct val="150000"/>
              </a:lnSpc>
            </a:pP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br>
              <a:rPr lang="pt-BR" sz="2000" dirty="0">
                <a:solidFill>
                  <a:schemeClr val="tx1"/>
                </a:solidFill>
              </a:rPr>
            </a:br>
            <a:r>
              <a:rPr lang="pt-BR" sz="2000" dirty="0">
                <a:solidFill>
                  <a:schemeClr val="tx1"/>
                </a:solidFill>
              </a:rPr>
              <a:t>Teoria da Estimação</a:t>
            </a:r>
            <a:br>
              <a:rPr lang="pt-BR" sz="1700" dirty="0">
                <a:solidFill>
                  <a:schemeClr val="tx1"/>
                </a:solidFill>
              </a:rPr>
            </a:br>
            <a:r>
              <a:rPr lang="pt-BR" sz="1400" dirty="0">
                <a:solidFill>
                  <a:schemeClr val="tx1"/>
                </a:solidFill>
              </a:rPr>
              <a:t>Trabalho 2</a:t>
            </a:r>
            <a:endParaRPr sz="1400" dirty="0">
              <a:solidFill>
                <a:schemeClr val="tx1"/>
              </a:solidFill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600" dirty="0"/>
          </a:p>
        </p:txBody>
      </p:sp>
      <p:sp>
        <p:nvSpPr>
          <p:cNvPr id="313" name="Google Shape;313;p35"/>
          <p:cNvSpPr txBox="1">
            <a:spLocks noGrp="1"/>
          </p:cNvSpPr>
          <p:nvPr>
            <p:ph type="subTitle" idx="1"/>
          </p:nvPr>
        </p:nvSpPr>
        <p:spPr>
          <a:xfrm>
            <a:off x="1541075" y="3827725"/>
            <a:ext cx="5602200" cy="4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/>
              <a:t>João Vitor Nascimento Ramos</a:t>
            </a:r>
            <a:endParaRPr sz="1200"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endParaRPr sz="1200" dirty="0"/>
          </a:p>
        </p:txBody>
      </p:sp>
      <p:pic>
        <p:nvPicPr>
          <p:cNvPr id="314" name="Google Shape;3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926" y="686975"/>
            <a:ext cx="1032600" cy="1338476"/>
          </a:xfrm>
          <a:prstGeom prst="rect">
            <a:avLst/>
          </a:prstGeom>
          <a:noFill/>
          <a:ln>
            <a:noFill/>
          </a:ln>
        </p:spPr>
      </p:pic>
      <p:pic>
        <p:nvPicPr>
          <p:cNvPr id="315" name="Google Shape;31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80373" y="686975"/>
            <a:ext cx="2082072" cy="1338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/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Visão Geral do Projeto</a:t>
            </a:r>
            <a:endParaRPr dirty="0"/>
          </a:p>
        </p:txBody>
      </p:sp>
      <p:sp>
        <p:nvSpPr>
          <p:cNvPr id="321" name="Google Shape;321;p36"/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50000"/>
              </a:lnSpc>
              <a:buChar char="❏"/>
            </a:pPr>
            <a:r>
              <a:rPr lang="pt-BR" dirty="0"/>
              <a:t>Modelagem Estocástica e Simulação</a:t>
            </a:r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/>
              <a:t>Modelo de evolução (preço e populacional)</a:t>
            </a:r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/>
              <a:t>Ruído de </a:t>
            </a:r>
            <a:r>
              <a:rPr lang="pt-BR" dirty="0">
                <a:solidFill>
                  <a:srgbClr val="980000"/>
                </a:solidFill>
              </a:rPr>
              <a:t>processo e de medição</a:t>
            </a:r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>
                <a:solidFill>
                  <a:srgbClr val="980000"/>
                </a:solidFill>
              </a:rPr>
              <a:t>Análise</a:t>
            </a:r>
            <a:r>
              <a:rPr lang="pt-BR" dirty="0"/>
              <a:t> do comportamento das trajetórias</a:t>
            </a:r>
          </a:p>
          <a:p>
            <a:pPr lvl="0" algn="l">
              <a:lnSpc>
                <a:spcPct val="150000"/>
              </a:lnSpc>
              <a:buChar char="❏"/>
            </a:pPr>
            <a:r>
              <a:rPr lang="pt-BR" dirty="0"/>
              <a:t>Estimação com Filtro de </a:t>
            </a:r>
            <a:r>
              <a:rPr lang="pt-BR" dirty="0" err="1"/>
              <a:t>Kalman</a:t>
            </a:r>
            <a:endParaRPr lang="pt-BR" dirty="0"/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/>
              <a:t>Implementação </a:t>
            </a:r>
            <a:r>
              <a:rPr lang="pt-BR" dirty="0">
                <a:solidFill>
                  <a:srgbClr val="980000"/>
                </a:solidFill>
              </a:rPr>
              <a:t>preditiva e filtrada</a:t>
            </a:r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/>
              <a:t>Comparação entre predição e correção</a:t>
            </a:r>
          </a:p>
          <a:p>
            <a:pPr lvl="0" algn="l">
              <a:lnSpc>
                <a:spcPct val="150000"/>
              </a:lnSpc>
              <a:buChar char="❏"/>
            </a:pPr>
            <a:r>
              <a:rPr lang="pt-BR" dirty="0"/>
              <a:t>Análise de Desempenho</a:t>
            </a:r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/>
              <a:t>Avaliação do erro via NRMSE</a:t>
            </a:r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/>
              <a:t>Impacto dos ruídos no sistema</a:t>
            </a:r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>
                <a:solidFill>
                  <a:srgbClr val="980000"/>
                </a:solidFill>
              </a:rPr>
              <a:t>Qualidade</a:t>
            </a:r>
            <a:r>
              <a:rPr lang="pt-BR" dirty="0"/>
              <a:t> da estimação do estado</a:t>
            </a:r>
            <a:endParaRPr dirty="0"/>
          </a:p>
        </p:txBody>
      </p:sp>
      <p:sp>
        <p:nvSpPr>
          <p:cNvPr id="322" name="Google Shape;322;p3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8C9150CF-4EAE-2E67-2640-D173B3E37E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CBCE3321-33C4-8BE0-782B-201DF9E5EA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Ferramentas de Implementação</a:t>
            </a:r>
            <a:endParaRPr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20D9CE80-306E-9D59-0AE2-696D4959CB8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50000"/>
              </a:lnSpc>
              <a:buChar char="❏"/>
            </a:pPr>
            <a:r>
              <a:rPr lang="pt-BR" dirty="0">
                <a:solidFill>
                  <a:srgbClr val="980000"/>
                </a:solidFill>
              </a:rPr>
              <a:t>Linguagem</a:t>
            </a:r>
            <a:r>
              <a:rPr lang="pt-BR" dirty="0"/>
              <a:t>:</a:t>
            </a:r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/>
              <a:t>Python v3.12.10</a:t>
            </a:r>
          </a:p>
          <a:p>
            <a:pPr lvl="0" algn="l">
              <a:lnSpc>
                <a:spcPct val="150000"/>
              </a:lnSpc>
              <a:buChar char="❏"/>
            </a:pPr>
            <a:r>
              <a:rPr lang="pt-BR" dirty="0">
                <a:solidFill>
                  <a:srgbClr val="980000"/>
                </a:solidFill>
              </a:rPr>
              <a:t>Bibliotecas</a:t>
            </a:r>
            <a:r>
              <a:rPr lang="pt-BR" dirty="0"/>
              <a:t>: </a:t>
            </a:r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 err="1"/>
              <a:t>NumPy</a:t>
            </a:r>
            <a:endParaRPr lang="pt-BR" dirty="0"/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 err="1"/>
              <a:t>Matplotlib</a:t>
            </a:r>
            <a:endParaRPr lang="pt-BR" dirty="0"/>
          </a:p>
          <a:p>
            <a:pPr algn="l">
              <a:lnSpc>
                <a:spcPct val="150000"/>
              </a:lnSpc>
              <a:buChar char="❏"/>
            </a:pPr>
            <a:r>
              <a:rPr lang="pt-BR" dirty="0">
                <a:solidFill>
                  <a:srgbClr val="980000"/>
                </a:solidFill>
              </a:rPr>
              <a:t>Automação</a:t>
            </a:r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 err="1"/>
              <a:t>Makefile</a:t>
            </a:r>
            <a:endParaRPr dirty="0"/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6162742F-F6E2-634A-D31B-E3DC41EA41A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8A626C7-7FE5-3903-711E-C81DCCA735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58250" y1="29875" x2="58250" y2="29875"/>
                      </a14:backgroundRemoval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6550667" y="3772936"/>
            <a:ext cx="971550" cy="971550"/>
          </a:xfrm>
          <a:prstGeom prst="rect">
            <a:avLst/>
          </a:prstGeom>
        </p:spPr>
      </p:pic>
      <p:pic>
        <p:nvPicPr>
          <p:cNvPr id="5126" name="Picture 6" descr="Text makefile - free Icon PNG, SVG">
            <a:extLst>
              <a:ext uri="{FF2B5EF4-FFF2-40B4-BE49-F238E27FC236}">
                <a16:creationId xmlns:a16="http://schemas.microsoft.com/office/drawing/2014/main" id="{9047780A-D4DD-D0A8-1E6F-A8CF95CF07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22217" y="3772936"/>
            <a:ext cx="971550" cy="971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5807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D30EFD06-DCF7-5A52-686E-E6C3879CF8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6D41B3DA-A7C5-17D0-8778-B59DD114CAC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sz="2800" dirty="0"/>
              <a:t>Parte 1 : Modelo Estocástico para Preços</a:t>
            </a:r>
            <a:endParaRPr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4483C8B5-2B14-71F3-4175-D04D1C6C842B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25" y="1097750"/>
                <a:ext cx="7717500" cy="384255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/>
                  <a:t>A equação de estado que descreve a evolução do preço é dada por:</a:t>
                </a:r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pPr marL="139700" lvl="0" indent="0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+1) = 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) + (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𝜇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- </m:t>
                    </m:r>
                    <m:f>
                      <m:fPr>
                        <m:ctrlP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pt-BR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²)∆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+</m:t>
                    </m:r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𝜎</m:t>
                    </m:r>
                    <m:rad>
                      <m:radPr>
                        <m:degHide m:val="on"/>
                        <m:ctrlP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∆</m:t>
                        </m:r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𝑡</m:t>
                        </m:r>
                      </m:e>
                    </m:rad>
                  </m:oMath>
                </a14:m>
                <a:r>
                  <a:rPr lang="pt-BR" i="1" dirty="0">
                    <a:latin typeface="Cambria Math" panose="02040503050406030204" pitchFamily="18" charset="0"/>
                  </a:rPr>
                  <a:t> dz</a:t>
                </a:r>
              </a:p>
              <a:p>
                <a:pPr marL="139700" lvl="0" indent="0" algn="just">
                  <a:lnSpc>
                    <a:spcPct val="150000"/>
                  </a:lnSpc>
                </a:pPr>
                <a:endParaRPr lang="pt-BR" dirty="0">
                  <a:latin typeface="Cambria Math" panose="02040503050406030204" pitchFamily="18" charset="0"/>
                </a:endParaRPr>
              </a:p>
              <a:p>
                <a:pPr marL="139700" lvl="0" indent="0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>
                        <a:latin typeface="Cambria Math" panose="02040503050406030204" pitchFamily="18" charset="0"/>
                      </a:rPr>
                      <m:t>p</m:t>
                    </m:r>
                    <m:r>
                      <a:rPr lang="pt-BR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pt-BR">
                        <a:latin typeface="Cambria Math" panose="02040503050406030204" pitchFamily="18" charset="0"/>
                      </a:rPr>
                      <m:t>k</m:t>
                    </m:r>
                    <m:r>
                      <a:rPr lang="pt-BR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 i="0" smtClean="0">
                        <a:latin typeface="Cambria Math" panose="02040503050406030204" pitchFamily="18" charset="0"/>
                      </a:rPr>
                      <m:t>pre</m:t>
                    </m:r>
                    <m:r>
                      <m:rPr>
                        <m:nor/>
                      </m:rPr>
                      <a:rPr lang="pt-BR" i="0">
                        <a:latin typeface="Cambria Math" panose="02040503050406030204" pitchFamily="18" charset="0"/>
                      </a:rPr>
                      <m:t>ç</m:t>
                    </m:r>
                    <m:r>
                      <m:rPr>
                        <m:nor/>
                      </m:rPr>
                      <a:rPr lang="pt-BR" i="0">
                        <a:latin typeface="Cambria Math" panose="02040503050406030204" pitchFamily="18" charset="0"/>
                      </a:rPr>
                      <m:t>o</m:t>
                    </m:r>
                    <m:r>
                      <m:rPr>
                        <m:nor/>
                      </m:rPr>
                      <a:rPr lang="pt-BR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 i="0">
                        <a:latin typeface="Cambria Math" panose="02040503050406030204" pitchFamily="18" charset="0"/>
                      </a:rPr>
                      <m:t>no</m:t>
                    </m:r>
                    <m:r>
                      <m:rPr>
                        <m:nor/>
                      </m:rPr>
                      <a:rPr lang="pt-BR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 i="0">
                        <a:latin typeface="Cambria Math" panose="02040503050406030204" pitchFamily="18" charset="0"/>
                      </a:rPr>
                      <m:t>instante</m:t>
                    </m:r>
                    <m:r>
                      <m:rPr>
                        <m:nor/>
                      </m:rPr>
                      <a:rPr lang="pt-BR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 i="0">
                        <a:latin typeface="Cambria Math" panose="02040503050406030204" pitchFamily="18" charset="0"/>
                      </a:rPr>
                      <m:t>discreto</m:t>
                    </m:r>
                    <m:r>
                      <m:rPr>
                        <m:nor/>
                      </m:rPr>
                      <a:rPr lang="pt-BR" i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 i="0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pt-BR" i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dirty="0"/>
              </a:p>
              <a:p>
                <a:pPr marL="139700" lvl="0" indent="0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µ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taxa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m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é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dia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de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crescimento</m:t>
                    </m:r>
                  </m:oMath>
                </a14:m>
                <a:endParaRPr lang="pt-BR" dirty="0"/>
              </a:p>
              <a:p>
                <a:pPr marL="139700" lvl="0" indent="0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σ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​: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volatilidade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do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sistema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marL="139700" lvl="0" indent="0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∆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t</m:t>
                    </m:r>
                    <m:r>
                      <a:rPr lang="pt-BR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:</m:t>
                    </m:r>
                  </m:oMath>
                </a14:m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passo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de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tempo</m:t>
                    </m:r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marL="139700" lvl="0" indent="0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𝑑𝑧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:</m:t>
                      </m:r>
                      <m:r>
                        <m:rPr>
                          <m:nor/>
                        </m:rPr>
                        <a:rPr lang="pt-BR">
                          <a:latin typeface="Cambria Math" panose="02040503050406030204" pitchFamily="18" charset="0"/>
                        </a:rPr>
                        <m:t>ru</m:t>
                      </m:r>
                      <m:r>
                        <m:rPr>
                          <m:nor/>
                        </m:rPr>
                        <a:rPr lang="pt-BR">
                          <a:latin typeface="Cambria Math" panose="02040503050406030204" pitchFamily="18" charset="0"/>
                        </a:rPr>
                        <m:t>í</m:t>
                      </m:r>
                      <m:r>
                        <m:rPr>
                          <m:nor/>
                        </m:rPr>
                        <a:rPr lang="pt-BR">
                          <a:latin typeface="Cambria Math" panose="02040503050406030204" pitchFamily="18" charset="0"/>
                        </a:rPr>
                        <m:t>do</m:t>
                      </m:r>
                      <m:r>
                        <m:rPr>
                          <m:nor/>
                        </m:rPr>
                        <a:rPr lang="pt-BR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>
                          <a:latin typeface="Cambria Math" panose="02040503050406030204" pitchFamily="18" charset="0"/>
                        </a:rPr>
                        <m:t>de</m:t>
                      </m:r>
                      <m:r>
                        <m:rPr>
                          <m:nor/>
                        </m:rPr>
                        <a:rPr lang="pt-BR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pt-BR">
                          <a:latin typeface="Cambria Math" panose="02040503050406030204" pitchFamily="18" charset="0"/>
                        </a:rPr>
                        <m:t>processo</m:t>
                      </m:r>
                    </m:oMath>
                  </m:oMathPara>
                </a14:m>
                <a:endParaRPr lang="pt-BR" dirty="0"/>
              </a:p>
              <a:p>
                <a:pPr marL="139700" lvl="0" indent="0" algn="l">
                  <a:lnSpc>
                    <a:spcPct val="150000"/>
                  </a:lnSpc>
                </a:pPr>
                <a:endParaRPr lang="pt-BR" dirty="0"/>
              </a:p>
              <a:p>
                <a:pPr marL="139700" lvl="0" indent="0" algn="just">
                  <a:lnSpc>
                    <a:spcPct val="150000"/>
                  </a:lnSpc>
                </a:pPr>
                <a:endParaRPr lang="pt-BR" dirty="0"/>
              </a:p>
            </p:txBody>
          </p:sp>
        </mc:Choice>
        <mc:Fallback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4483C8B5-2B14-71F3-4175-D04D1C6C842B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25" y="1097750"/>
                <a:ext cx="7717500" cy="384255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699E8D93-ADAF-39C6-EC5A-9F24A5F3888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70253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EE4C3189-6997-0FCD-FCE2-5486B053A7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E9F6C64F-AE76-7C5B-3BB3-80E95F2748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1 : Configuração da Simulação</a:t>
            </a:r>
            <a:endParaRPr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A6F638CE-F485-76C1-A166-6A9FA6276D1B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50000"/>
              </a:lnSpc>
              <a:buChar char="❏"/>
            </a:pPr>
            <a:r>
              <a:rPr lang="pt-BR" dirty="0">
                <a:solidFill>
                  <a:schemeClr val="tx1"/>
                </a:solidFill>
              </a:rPr>
              <a:t>Taxa de crescimento: </a:t>
            </a:r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>
                <a:solidFill>
                  <a:schemeClr val="tx1"/>
                </a:solidFill>
              </a:rPr>
              <a:t>µ = 0.05</a:t>
            </a:r>
          </a:p>
          <a:p>
            <a:pPr lvl="0" algn="l">
              <a:lnSpc>
                <a:spcPct val="150000"/>
              </a:lnSpc>
              <a:buChar char="❏"/>
            </a:pPr>
            <a:r>
              <a:rPr lang="pt-BR" dirty="0">
                <a:solidFill>
                  <a:schemeClr val="tx1"/>
                </a:solidFill>
              </a:rPr>
              <a:t>Volatilidade: </a:t>
            </a:r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>
                <a:solidFill>
                  <a:schemeClr val="tx1"/>
                </a:solidFill>
              </a:rPr>
              <a:t>σ = 0.2</a:t>
            </a:r>
          </a:p>
          <a:p>
            <a:pPr lvl="0" algn="l">
              <a:lnSpc>
                <a:spcPct val="150000"/>
              </a:lnSpc>
              <a:buChar char="❏"/>
            </a:pPr>
            <a:r>
              <a:rPr lang="pt-BR" dirty="0">
                <a:solidFill>
                  <a:schemeClr val="tx1"/>
                </a:solidFill>
              </a:rPr>
              <a:t>Passo de tempo: </a:t>
            </a:r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>
                <a:solidFill>
                  <a:schemeClr val="tx1"/>
                </a:solidFill>
              </a:rPr>
              <a:t>∆t = 1</a:t>
            </a:r>
          </a:p>
          <a:p>
            <a:pPr lvl="0" algn="l">
              <a:lnSpc>
                <a:spcPct val="150000"/>
              </a:lnSpc>
              <a:buChar char="❏"/>
            </a:pPr>
            <a:r>
              <a:rPr lang="pt-BR" dirty="0">
                <a:solidFill>
                  <a:schemeClr val="tx1"/>
                </a:solidFill>
              </a:rPr>
              <a:t>Número de passos: </a:t>
            </a:r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>
                <a:solidFill>
                  <a:schemeClr val="tx1"/>
                </a:solidFill>
              </a:rPr>
              <a:t>N = 1000</a:t>
            </a:r>
          </a:p>
          <a:p>
            <a:pPr lvl="0" algn="l">
              <a:lnSpc>
                <a:spcPct val="150000"/>
              </a:lnSpc>
              <a:buChar char="❏"/>
            </a:pPr>
            <a:r>
              <a:rPr lang="pt-BR" dirty="0">
                <a:solidFill>
                  <a:schemeClr val="tx1"/>
                </a:solidFill>
              </a:rPr>
              <a:t>Condição inicial: </a:t>
            </a:r>
          </a:p>
          <a:p>
            <a:pPr lvl="1" algn="l">
              <a:lnSpc>
                <a:spcPct val="150000"/>
              </a:lnSpc>
              <a:buChar char="❏"/>
            </a:pPr>
            <a:r>
              <a:rPr lang="pt-BR" dirty="0">
                <a:solidFill>
                  <a:schemeClr val="tx1"/>
                </a:solidFill>
              </a:rPr>
              <a:t>p(0) = 10</a:t>
            </a:r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463453FA-88EA-41C6-02D9-A790F56C25E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3278837-09DA-4A10-361A-2EC1D916E5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031" y="3641157"/>
            <a:ext cx="1108694" cy="1108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3483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FE7A0BA7-4EBE-72B4-F4EF-F99AB0673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DAF2AD1D-D3A1-88C8-185C-27EC54B425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sz="2400" dirty="0"/>
              <a:t>Parte 1 : Trajetória determinística e a estocástica</a:t>
            </a:r>
            <a:endParaRPr sz="2400"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4FF32805-3FFF-9811-AD9A-A6B4A27EC80A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50000"/>
              </a:lnSpc>
              <a:buChar char="❏"/>
            </a:pPr>
            <a:r>
              <a:rPr lang="pt-BR" dirty="0">
                <a:solidFill>
                  <a:srgbClr val="980000"/>
                </a:solidFill>
              </a:rPr>
              <a:t>Destaque </a:t>
            </a:r>
            <a:r>
              <a:rPr lang="pt-BR" dirty="0">
                <a:solidFill>
                  <a:schemeClr val="tx1"/>
                </a:solidFill>
              </a:rPr>
              <a:t>: Observa-se a estabilização do sistema e o comportamento assintótico das frações de cada compartimento.</a:t>
            </a:r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E2266451-2AB5-1B19-ACBD-86355535735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4CFE1D3-DB29-8067-EABA-A7E9A73DEABB}"/>
              </a:ext>
            </a:extLst>
          </p:cNvPr>
          <p:cNvSpPr txBox="1"/>
          <p:nvPr/>
        </p:nvSpPr>
        <p:spPr>
          <a:xfrm>
            <a:off x="2655792" y="4436414"/>
            <a:ext cx="384585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800" dirty="0"/>
              <a:t>Figura 1: Comparação entre a trajetória determinística (sem ruído) e a trajetória estocástica (com ruído de processo).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DA15811-0978-3A7C-46EB-27AF98F0E4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4533" y="1934417"/>
            <a:ext cx="3608375" cy="2484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88462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15207E2F-90B0-987F-DC3B-E41A86F153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C35D7218-6695-C0F6-40E1-51DD2BED29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1 : Análise do Erro de Processo</a:t>
            </a:r>
            <a:endParaRPr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F65C5A98-DDC0-C72D-8C34-E5470F0127D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25" y="1213862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39700" lvl="0" indent="0" algn="l">
              <a:lnSpc>
                <a:spcPct val="150000"/>
              </a:lnSpc>
            </a:pP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59D78662-1B8C-21BB-DD16-6934FDE8B6FF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AAD523B1-A4A6-61AB-2FB6-20EAC3F9AE19}"/>
              </a:ext>
            </a:extLst>
          </p:cNvPr>
          <p:cNvSpPr txBox="1"/>
          <p:nvPr/>
        </p:nvSpPr>
        <p:spPr>
          <a:xfrm>
            <a:off x="928193" y="4523848"/>
            <a:ext cx="38458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/>
              <a:t>Figura 2: Evolução do erro de processo ao longo do tempo</a:t>
            </a: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4DFF462-46A8-FF61-120B-E7F1F66470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6704" y="2030430"/>
            <a:ext cx="3288839" cy="2493418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24C6887-5C30-E0B6-2BEC-C5E19C9C43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9769" y="1481236"/>
            <a:ext cx="2122705" cy="402470"/>
          </a:xfrm>
          <a:prstGeom prst="rect">
            <a:avLst/>
          </a:prstGeom>
        </p:spPr>
      </p:pic>
      <p:sp>
        <p:nvSpPr>
          <p:cNvPr id="11" name="CaixaDeTexto 10">
            <a:extLst>
              <a:ext uri="{FF2B5EF4-FFF2-40B4-BE49-F238E27FC236}">
                <a16:creationId xmlns:a16="http://schemas.microsoft.com/office/drawing/2014/main" id="{704D0E8D-1847-E871-435B-83B1458BE5CF}"/>
              </a:ext>
            </a:extLst>
          </p:cNvPr>
          <p:cNvSpPr txBox="1"/>
          <p:nvPr/>
        </p:nvSpPr>
        <p:spPr>
          <a:xfrm>
            <a:off x="6048237" y="4323793"/>
            <a:ext cx="1681162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NRMSE = 0.2729</a:t>
            </a:r>
          </a:p>
        </p:txBody>
      </p:sp>
    </p:spTree>
    <p:extLst>
      <p:ext uri="{BB962C8B-B14F-4D97-AF65-F5344CB8AC3E}">
        <p14:creationId xmlns:p14="http://schemas.microsoft.com/office/powerpoint/2010/main" val="12471699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6CD91E83-D01A-81A8-B41A-033F858FF5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D4984A0A-D4EA-43C8-7BF7-AED81491BA8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sz="2000" dirty="0"/>
              <a:t>Parte 1 : Influência da Semente do Gerador Pseudoaleatório</a:t>
            </a:r>
            <a:endParaRPr sz="3200"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2A01A7D1-507F-682F-60B1-771B02F3CFF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dirty="0"/>
              <a:t>Considera-se uma segunda simulação com </a:t>
            </a:r>
            <a:r>
              <a:rPr lang="pt-BR" i="1" dirty="0" err="1"/>
              <a:t>seed</a:t>
            </a:r>
            <a:r>
              <a:rPr lang="pt-BR" dirty="0"/>
              <a:t> = 42, mantendo-se os mesmos parâmetros do sistema</a:t>
            </a:r>
            <a:endParaRPr lang="pt-BR" dirty="0">
              <a:solidFill>
                <a:schemeClr val="tx1"/>
              </a:solidFill>
            </a:endParaRPr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68E708E6-2D79-E536-A169-D849BBEF10A0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7A0A04A-B0F2-BBF4-A2C8-93385F641E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5540" y="2189233"/>
            <a:ext cx="6472865" cy="2332073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A87962A-A511-7C73-07AC-FCC6A99655BF}"/>
              </a:ext>
            </a:extLst>
          </p:cNvPr>
          <p:cNvSpPr txBox="1"/>
          <p:nvPr/>
        </p:nvSpPr>
        <p:spPr>
          <a:xfrm>
            <a:off x="2649044" y="4521306"/>
            <a:ext cx="384585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/>
              <a:t>Figura 3 : Trajetória estocástica e erro de processo para </a:t>
            </a:r>
            <a:r>
              <a:rPr lang="pt-BR" sz="800" dirty="0" err="1"/>
              <a:t>seed</a:t>
            </a:r>
            <a:r>
              <a:rPr lang="pt-BR" sz="800" dirty="0"/>
              <a:t> = 42.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47BB0EF-6A11-088A-EE88-4953F2CBAC17}"/>
              </a:ext>
            </a:extLst>
          </p:cNvPr>
          <p:cNvSpPr txBox="1"/>
          <p:nvPr/>
        </p:nvSpPr>
        <p:spPr>
          <a:xfrm>
            <a:off x="6084888" y="1802150"/>
            <a:ext cx="163887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i="1" dirty="0"/>
              <a:t>NRMSE = 0.0765</a:t>
            </a:r>
          </a:p>
        </p:txBody>
      </p:sp>
    </p:spTree>
    <p:extLst>
      <p:ext uri="{BB962C8B-B14F-4D97-AF65-F5344CB8AC3E}">
        <p14:creationId xmlns:p14="http://schemas.microsoft.com/office/powerpoint/2010/main" val="6374564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3C6224D8-A635-538E-E257-F90D90E5DB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4738D9A0-B854-D8B1-38E9-85DB84E71B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sz="2000" dirty="0"/>
              <a:t>Parte 1 : Análise Estatística com Múltiplas Simulações</a:t>
            </a:r>
            <a:endParaRPr sz="3200"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04D5D8E5-6A0E-C173-01CD-D4BAA93A976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dirty="0"/>
              <a:t>Considerando 1000 realizações:</a:t>
            </a:r>
          </a:p>
          <a:p>
            <a:pPr marL="4254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pt-BR" dirty="0"/>
          </a:p>
          <a:p>
            <a:pPr marL="4254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pt-BR" dirty="0"/>
          </a:p>
          <a:p>
            <a:pPr marL="4254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dirty="0"/>
              <a:t>Assim, embora trajetórias individuais apresentem comportamentos distintos, o efeito médio do ruído de processo tende a se estabilizar.</a:t>
            </a:r>
          </a:p>
          <a:p>
            <a:pPr marL="596900" lvl="1" indent="0" algn="l">
              <a:lnSpc>
                <a:spcPct val="150000"/>
              </a:lnSpc>
            </a:pPr>
            <a:r>
              <a:rPr lang="pt-BR" dirty="0">
                <a:solidFill>
                  <a:schemeClr val="tx1"/>
                </a:solidFill>
              </a:rPr>
              <a:t>	</a:t>
            </a:r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D636BFE5-6E02-4427-4E77-BD466D46EFB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5B800F1-4AED-9700-8555-9045D0B1B6EB}"/>
                  </a:ext>
                </a:extLst>
              </p:cNvPr>
              <p:cNvSpPr txBox="1"/>
              <p:nvPr/>
            </p:nvSpPr>
            <p:spPr>
              <a:xfrm>
                <a:off x="3752535" y="1764276"/>
                <a:ext cx="1638874" cy="30822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𝑁𝑅𝑀𝑆𝐸</m:t>
                        </m:r>
                      </m:e>
                    </m:acc>
                  </m:oMath>
                </a14:m>
                <a:r>
                  <a:rPr lang="pt-BR" dirty="0"/>
                  <a:t> = 0.1623</a:t>
                </a:r>
              </a:p>
            </p:txBody>
          </p:sp>
        </mc:Choice>
        <mc:Fallback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45B800F1-4AED-9700-8555-9045D0B1B6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52535" y="1764276"/>
                <a:ext cx="1638874" cy="308226"/>
              </a:xfrm>
              <a:prstGeom prst="rect">
                <a:avLst/>
              </a:prstGeom>
              <a:blipFill>
                <a:blip r:embed="rId3"/>
                <a:stretch>
                  <a:fillRect t="-1961" b="-1960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502609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C4D07263-1D99-8284-AEE1-9FEC3A0A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40FDAE70-E49A-84A0-7A4F-2F91A75677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sz="2000" dirty="0"/>
              <a:t>Parte 1 : Influência da Intensidade do Ruído de Processo</a:t>
            </a:r>
            <a:endParaRPr sz="2000"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3875C5F3-1248-21E3-0C89-77915EE6EB4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50000"/>
              </a:lnSpc>
              <a:buChar char="❏"/>
            </a:pPr>
            <a:endParaRPr lang="pt-BR" b="0" dirty="0">
              <a:solidFill>
                <a:schemeClr val="tx1"/>
              </a:solidFill>
            </a:endParaRPr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DF9FD94B-747B-E571-7498-A40850974CF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10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EC296BB-3E81-F067-89A6-3BBEE906D2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3145742" y="2115670"/>
            <a:ext cx="2656664" cy="912159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EA5214C6-5F43-B821-5A1F-F5C0DE02F13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47710" y="1925759"/>
            <a:ext cx="3526364" cy="234496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6" name="animacao_ruido_processo">
            <a:hlinkClick r:id="" action="ppaction://media"/>
            <a:extLst>
              <a:ext uri="{FF2B5EF4-FFF2-40B4-BE49-F238E27FC236}">
                <a16:creationId xmlns:a16="http://schemas.microsoft.com/office/drawing/2014/main" id="{FE934575-D66E-7A3F-71F7-FCBC2A0A0E3C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708534" y="1925760"/>
            <a:ext cx="3394572" cy="234496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46018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500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6"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B3DD0FD5-5F89-9E42-CB3A-008D0D4E7D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98062D93-1AA0-5FC4-27F1-6A9C9C9195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sz="2000" dirty="0"/>
              <a:t>Parte 1 : Modelo de Observação e Análise das Medições</a:t>
            </a:r>
            <a:endParaRPr sz="20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515DBD52-FC22-39E5-8166-84B00F617AD9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/>
                  <a:t>A equação de estado que descreve a evolução do preço é dada por:</a:t>
                </a:r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pPr marL="139700" lvl="0" indent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 smtClean="0">
                          <a:latin typeface="Cambria Math" panose="02040503050406030204" pitchFamily="18" charset="0"/>
                        </a:rPr>
                        <m:t>𝑦</m:t>
                      </m:r>
                      <m:d>
                        <m:d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pt-BR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m:rPr>
                          <m:nor/>
                        </m:rPr>
                        <a:rPr lang="el-GR"/>
                        <m:t>η</m:t>
                      </m:r>
                      <m:r>
                        <m:rPr>
                          <m:nor/>
                        </m:rPr>
                        <a:rPr lang="pt-BR"/>
                        <m:t>r</m:t>
                      </m:r>
                      <m:r>
                        <m:rPr>
                          <m:nor/>
                        </m:rPr>
                        <a:rPr lang="pt-BR"/>
                        <m:t> + </m:t>
                      </m:r>
                      <m:r>
                        <m:rPr>
                          <m:nor/>
                        </m:rPr>
                        <a:rPr lang="pt-BR"/>
                        <m:t>q</m:t>
                      </m:r>
                      <m:r>
                        <m:rPr>
                          <m:nor/>
                        </m:rPr>
                        <a:rPr lang="pt-BR"/>
                        <m:t> </m:t>
                      </m:r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l-GR"/>
                            <m:t>ε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pt-BR" dirty="0">
                  <a:latin typeface="Cambria Math" panose="02040503050406030204" pitchFamily="18" charset="0"/>
                </a:endParaRPr>
              </a:p>
              <a:p>
                <a:pPr marL="139700" lvl="0" indent="0">
                  <a:lnSpc>
                    <a:spcPct val="150000"/>
                  </a:lnSpc>
                </a:pPr>
                <a:endParaRPr lang="pt-BR" dirty="0">
                  <a:latin typeface="Cambria Math" panose="02040503050406030204" pitchFamily="18" charset="0"/>
                </a:endParaRPr>
              </a:p>
              <a:p>
                <a:pPr marL="139700" lvl="0" indent="0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pt-BR">
                        <a:latin typeface="Cambria Math" panose="02040503050406030204" pitchFamily="18" charset="0"/>
                      </a:rPr>
                      <m:t>p</m:t>
                    </m:r>
                    <m:r>
                      <a:rPr lang="pt-BR"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pt-BR">
                        <a:latin typeface="Cambria Math" panose="02040503050406030204" pitchFamily="18" charset="0"/>
                      </a:rPr>
                      <m:t>k</m:t>
                    </m:r>
                    <m:r>
                      <a:rPr lang="pt-BR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pt-BR" dirty="0"/>
                  <a:t>: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pre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ç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o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no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instante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discreto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k</m:t>
                    </m:r>
                    <m:r>
                      <m:rPr>
                        <m:nor/>
                      </m:rPr>
                      <a:rPr lang="pt-BR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dirty="0"/>
              </a:p>
              <a:p>
                <a:pPr marL="139700" lvl="0" indent="0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l-GR"/>
                      <m:t>η</m:t>
                    </m:r>
                    <m:r>
                      <m:rPr>
                        <m:nor/>
                      </m:rPr>
                      <a:rPr lang="pt-BR" b="0" i="0" smtClean="0"/>
                      <m:t>r</m:t>
                    </m:r>
                    <m:r>
                      <m:rPr>
                        <m:nor/>
                      </m:rPr>
                      <a:rPr lang="pt-BR" b="0" i="0" smtClean="0"/>
                      <m:t>  </m:t>
                    </m:r>
                  </m:oMath>
                </a14:m>
                <a:r>
                  <a:rPr lang="pt-BR" dirty="0"/>
                  <a:t>: tendência sistemática constante</a:t>
                </a:r>
              </a:p>
              <a:p>
                <a:pPr marL="139700" lvl="0" indent="0" algn="just">
                  <a:lnSpc>
                    <a:spcPct val="150000"/>
                  </a:lnSpc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pt-BR"/>
                      <m:t>q</m:t>
                    </m:r>
                    <m:r>
                      <m:rPr>
                        <m:nor/>
                      </m:rPr>
                      <a:rPr lang="pt-BR"/>
                      <m:t> </m:t>
                    </m:r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nor/>
                          </m:rPr>
                          <a:rPr lang="el-GR"/>
                          <m:t>ε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  <m:r>
                      <a:rPr lang="pt-B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dirty="0"/>
                  <a:t>​: ruído de medição</a:t>
                </a:r>
                <a:endParaRPr lang="pt-BR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515DBD52-FC22-39E5-8166-84B00F617AD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F8B6C7A9-242B-DA94-24AB-999815316F1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099048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4864CDBB-F69A-D117-5556-6899DE79E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52F7C509-C7BE-C549-ABF2-FFECAB1D60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sz="2000" dirty="0"/>
              <a:t>Parte 1 : Comparação entre Estado Real e Medições</a:t>
            </a:r>
            <a:endParaRPr sz="2000"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92AA9F8F-27B3-F653-E774-D8AD856C8DA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50000"/>
              </a:lnSpc>
              <a:buChar char="❏"/>
            </a:pPr>
            <a:endParaRPr lang="pt-BR" i="1" dirty="0">
              <a:latin typeface="Cambria Math" panose="02040503050406030204" pitchFamily="18" charset="0"/>
            </a:endParaRPr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B0E6156E-ED6D-3821-1389-224FF4A93AC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33A629E-65A6-8035-0FE5-FEE5DAF40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4695" y="1976577"/>
            <a:ext cx="4494557" cy="2480829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191AC991-B196-1511-A950-673EA0E6BB03}"/>
              </a:ext>
            </a:extLst>
          </p:cNvPr>
          <p:cNvSpPr txBox="1"/>
          <p:nvPr/>
        </p:nvSpPr>
        <p:spPr>
          <a:xfrm>
            <a:off x="2105545" y="4457406"/>
            <a:ext cx="49328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/>
              <a:t>Figura 5 : Comparação entre o estado real (com ruído de processo) e as medições, para </a:t>
            </a:r>
            <a:r>
              <a:rPr lang="pt-BR" sz="800" dirty="0" err="1"/>
              <a:t>seed</a:t>
            </a:r>
            <a:r>
              <a:rPr lang="pt-BR" sz="800" dirty="0"/>
              <a:t> = 0.</a:t>
            </a:r>
          </a:p>
        </p:txBody>
      </p:sp>
    </p:spTree>
    <p:extLst>
      <p:ext uri="{BB962C8B-B14F-4D97-AF65-F5344CB8AC3E}">
        <p14:creationId xmlns:p14="http://schemas.microsoft.com/office/powerpoint/2010/main" val="32369782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8B24BFEA-242A-F6F9-6193-FB1C75E56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5D0D31E3-6841-ECB9-FB4C-E029F61EE0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sz="2000" dirty="0"/>
              <a:t>Parte 1 : Análise do Erro de Medição</a:t>
            </a:r>
            <a:endParaRPr sz="2000"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8640938D-8184-ED10-074F-0ACE19BD88D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>
              <a:lnSpc>
                <a:spcPct val="150000"/>
              </a:lnSpc>
              <a:buChar char="❏"/>
            </a:pPr>
            <a:endParaRPr lang="pt-BR" i="1" dirty="0">
              <a:latin typeface="Cambria Math" panose="02040503050406030204" pitchFamily="18" charset="0"/>
            </a:endParaRPr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9C298962-2182-D0CD-59F7-4F55B862D1F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EEC8A7B-153C-9E24-5BBA-77B2530B6A18}"/>
              </a:ext>
            </a:extLst>
          </p:cNvPr>
          <p:cNvSpPr txBox="1"/>
          <p:nvPr/>
        </p:nvSpPr>
        <p:spPr>
          <a:xfrm>
            <a:off x="562493" y="4277473"/>
            <a:ext cx="49328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800" dirty="0"/>
              <a:t>Figura 5 : Comparação entre o estado real (com ruído de processo) e as medições, para </a:t>
            </a:r>
            <a:r>
              <a:rPr lang="pt-BR" sz="800" dirty="0" err="1"/>
              <a:t>seed</a:t>
            </a:r>
            <a:r>
              <a:rPr lang="pt-BR" sz="800" dirty="0"/>
              <a:t> = 0.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6649FE08-DC96-736B-216F-90661DB6CB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97253" y="1350719"/>
            <a:ext cx="1149493" cy="32747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B36F97E-0DCB-E017-C1CC-EF3ECC4675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834" y="1874691"/>
            <a:ext cx="4370175" cy="231899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F527406-FE4C-5375-0A2E-3E8BFA9792B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37912" y="3143595"/>
            <a:ext cx="2168934" cy="196634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221931B8-278C-E74B-DCB2-986135E746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05140" y="3542186"/>
            <a:ext cx="2234479" cy="19067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F62DDD17-098A-5916-60D5-84E5786CA74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7553" y="3926450"/>
            <a:ext cx="1489652" cy="172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8795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6F98E9C5-76EE-EB65-4734-5DCDFF290B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65A217F3-5976-796F-6116-56248DA073F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1 : Estimativa Ótima Filtrada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7922773D-6967-F8CF-45A2-50E887B72B4E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/>
                  <a:t>Do ponto de vista quantitativo, o erro foi avaliado por meio do NRMSE médio ao longo de 1000 realizações, obtendo-se: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𝑁𝑅𝑀𝑆𝐸</m:t>
                        </m:r>
                      </m:e>
                    </m:acc>
                  </m:oMath>
                </a14:m>
                <a:r>
                  <a:rPr lang="pt-BR" dirty="0"/>
                  <a:t> = 0.0117</a:t>
                </a:r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/>
                  <a:t>Comparando com o erro médio das medições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𝑁𝑅𝑀𝑆𝐸</m:t>
                        </m:r>
                      </m:e>
                    </m:acc>
                  </m:oMath>
                </a14:m>
                <a:r>
                  <a:rPr lang="pt-BR" dirty="0"/>
                  <a:t> ≈ 0.16), observa-se uma redução de aproximadamente 92% no erro</a:t>
                </a:r>
              </a:p>
              <a:p>
                <a:pPr marL="596900" lvl="1" indent="0" algn="l">
                  <a:lnSpc>
                    <a:spcPct val="150000"/>
                  </a:lnSpc>
                </a:pPr>
                <a:endParaRPr lang="pt-BR" dirty="0"/>
              </a:p>
            </p:txBody>
          </p:sp>
        </mc:Choice>
        <mc:Fallback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7922773D-6967-F8CF-45A2-50E887B72B4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 b="-30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E7D22C63-D04F-06AD-CD41-22DD1C75D1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7DD68CC-3900-DFEE-2E90-3FCB7BBF72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19224" y="2076450"/>
            <a:ext cx="3505552" cy="1935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6341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FE5F3A30-C328-A932-8C11-22C0F793D0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CCA8ACE8-1B0F-C809-0370-9FE5028A15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1 : Estimativa Preditiva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334B0954-95E0-817E-7474-3C1D91FE9FBA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/>
                  <a:t>Do ponto de vista quantitativo, o erro foi avaliado por meio do NRMSE médio ao longo de 1000 realizações, obtendo-se: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𝑁𝑅𝑀𝑆𝐸</m:t>
                        </m:r>
                      </m:e>
                    </m:acc>
                  </m:oMath>
                </a14:m>
                <a:r>
                  <a:rPr lang="pt-BR" dirty="0"/>
                  <a:t> = 0.0142</a:t>
                </a:r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/>
                  <a:t>Comparando com o erro médio das medições (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𝑁𝑅𝑀𝑆𝐸</m:t>
                        </m:r>
                      </m:e>
                    </m:acc>
                  </m:oMath>
                </a14:m>
                <a:r>
                  <a:rPr lang="pt-BR" dirty="0"/>
                  <a:t> ≈ 0.16), observa-se uma redução de aproximadamente 90% no erro</a:t>
                </a:r>
              </a:p>
              <a:p>
                <a:pPr marL="596900" lvl="1" indent="0" algn="l">
                  <a:lnSpc>
                    <a:spcPct val="150000"/>
                  </a:lnSpc>
                </a:pPr>
                <a:endParaRPr lang="pt-BR" dirty="0"/>
              </a:p>
            </p:txBody>
          </p:sp>
        </mc:Choice>
        <mc:Fallback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334B0954-95E0-817E-7474-3C1D91FE9FBA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 b="-307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EA1297BA-7913-E816-30BC-6D5D31F0FA5D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20CC5F61-79D6-7F0F-8830-E9EB476180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967" y="2044700"/>
            <a:ext cx="3658065" cy="197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736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BE8F8388-EF3C-7B6D-6004-AE9D7FF2E7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DBDD0FAC-40C9-1B2F-60A8-B98848806DC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1 : Estimativa Preditiva-Corretiva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3AADD0D1-6100-5B7F-634E-8DBF8633FB9E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/>
                  <a:t>Do ponto de vista quantitativo, o erro foi avaliado por meio do NRMSE médio ao longo de 1000 realizações, obtendo-se: 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𝑁𝑅𝑀𝑆𝐸</m:t>
                        </m:r>
                      </m:e>
                    </m:acc>
                  </m:oMath>
                </a14:m>
                <a:r>
                  <a:rPr lang="pt-BR" dirty="0"/>
                  <a:t> = 0.0117</a:t>
                </a:r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/>
              </a:p>
              <a:p>
                <a:pPr lvl="0" algn="l">
                  <a:lnSpc>
                    <a:spcPct val="150000"/>
                  </a:lnSpc>
                  <a:buChar char="❏"/>
                </a:pPr>
                <a:r>
                  <a:rPr lang="pt-BR" dirty="0"/>
                  <a:t>Esse valor coincide com o obtido para a estimativa filtrada, o que é esperado, uma vez que ambas correspondem à estimativa após a etapa de correção.</a:t>
                </a:r>
              </a:p>
            </p:txBody>
          </p:sp>
        </mc:Choice>
        <mc:Fallback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3AADD0D1-6100-5B7F-634E-8DBF8633FB9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 b="-290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FE2A8601-EB6B-BA7F-74A6-CB81D6D569D6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D88C99F0-12AD-E5E7-5782-75973C1552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55151" y="2011018"/>
            <a:ext cx="3833697" cy="2129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475723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27D8C39D-5DDF-D929-69FE-D5E77C384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CD3BF57C-C9E8-0AED-45A0-E3C5F8047DB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2 : Modelo Populacional </a:t>
            </a:r>
            <a:endParaRPr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B3A5F78C-07A6-5D4E-D628-155B3590AF02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9700" indent="0">
                  <a:lnSpc>
                    <a:spcPct val="150000"/>
                  </a:lnSpc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pPr marL="139700" indent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+1) =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 + (</m:t>
                      </m:r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-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marL="139700" indent="0">
                  <a:lnSpc>
                    <a:spcPct val="150000"/>
                  </a:lnSpc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pt-BR" dirty="0"/>
                  <a:t>representa o </a:t>
                </a:r>
                <a:r>
                  <a:rPr lang="pt-BR" dirty="0">
                    <a:solidFill>
                      <a:srgbClr val="980000"/>
                    </a:solidFill>
                  </a:rPr>
                  <a:t>número total </a:t>
                </a:r>
                <a:r>
                  <a:rPr lang="pt-BR" dirty="0"/>
                  <a:t>de indivíduos da população no instante k</a:t>
                </a: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pt-BR" dirty="0"/>
                  <a:t> é a </a:t>
                </a:r>
                <a:r>
                  <a:rPr lang="pt-BR" dirty="0">
                    <a:solidFill>
                      <a:srgbClr val="980000"/>
                    </a:solidFill>
                  </a:rPr>
                  <a:t>taxa de natalidade</a:t>
                </a: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𝛽</m:t>
                    </m:r>
                  </m:oMath>
                </a14:m>
                <a:r>
                  <a:rPr lang="pt-BR" dirty="0"/>
                  <a:t> é a </a:t>
                </a:r>
                <a:r>
                  <a:rPr lang="pt-BR" dirty="0">
                    <a:solidFill>
                      <a:srgbClr val="980000"/>
                    </a:solidFill>
                  </a:rPr>
                  <a:t>taxa de mortalidade</a:t>
                </a:r>
                <a:r>
                  <a:rPr lang="pt-BR" dirty="0"/>
                  <a:t>.</a:t>
                </a:r>
                <a:endParaRPr lang="pt-BR" i="1" dirty="0">
                  <a:latin typeface="Cambria Math" panose="02040503050406030204" pitchFamily="18" charset="0"/>
                </a:endParaRPr>
              </a:p>
              <a:p>
                <a:pPr lvl="0" algn="l">
                  <a:lnSpc>
                    <a:spcPct val="150000"/>
                  </a:lnSpc>
                  <a:buChar char="❏"/>
                </a:pPr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B3A5F78C-07A6-5D4E-D628-155B3590AF02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FAE5DF6A-F3F8-5965-0D79-F6CD5BB6116C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9461964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F1C8EA76-C301-F434-EAA5-2F13641323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990A4084-5974-0AA4-9BF0-773070E6168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sz="2800" dirty="0"/>
              <a:t>Parte 2 : Modelagem no espaço de estados</a:t>
            </a:r>
            <a:endParaRPr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A39C8D3B-EBDD-F545-ADDF-9FE0B837A42E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139700" indent="0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+1) = 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 + (</m:t>
                      </m:r>
                      <m:r>
                        <a:rPr lang="pt-BR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𝛼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− </m:t>
                      </m:r>
                      <m:r>
                        <a:rPr lang="pt-BR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a:rPr lang="pt-BR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pt-B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marL="139700" indent="0">
                  <a:lnSpc>
                    <a:spcPct val="150000"/>
                  </a:lnSpc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/>
                  <a:t>Definindo o estado como: </a:t>
                </a:r>
              </a:p>
              <a:p>
                <a:pPr marL="596900" lvl="1" indent="0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/>
                  <a:t>o modelo pode ser escrito como :</a:t>
                </a:r>
              </a:p>
              <a:p>
                <a:pPr marL="139700" lvl="0" indent="0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P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  <a:p>
                <a:pPr marL="139700" lvl="0" indent="0" algn="l">
                  <a:lnSpc>
                    <a:spcPct val="150000"/>
                  </a:lnSpc>
                </a:pPr>
                <a:r>
                  <a:rPr lang="pt-BR" dirty="0"/>
                  <a:t>em que:</a:t>
                </a:r>
              </a:p>
              <a:p>
                <a:pPr marL="139700" lvl="0" indent="0">
                  <a:lnSpc>
                    <a:spcPct val="150000"/>
                  </a:lnSpc>
                </a:pPr>
                <a:r>
                  <a:rPr lang="pt-BR" dirty="0"/>
                  <a:t>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= 1 +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l-GR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pt-BR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A39C8D3B-EBDD-F545-ADDF-9FE0B837A42E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B0C4EE78-7F10-3E03-24ED-802199E5356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887748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034A80B3-8F70-62BF-6CA5-C41DCA3E7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5F8ED10F-9EBA-73AE-AE2A-B58CB75FEDC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sz="2800" dirty="0"/>
              <a:t>Parte 2 : Modelagem no espaço de estados</a:t>
            </a:r>
            <a:endParaRPr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9BF71668-7897-8DD9-76E8-CC1D1145B669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/>
                  <a:t>Para tornar o modelo mais realista, introduz-se um termo de ruído de processo:</a:t>
                </a:r>
              </a:p>
              <a:p>
                <a:pPr marL="139700" indent="0" algn="l">
                  <a:lnSpc>
                    <a:spcPct val="150000"/>
                  </a:lnSpc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pPr marL="139700" indent="0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 = </m:t>
                      </m:r>
                      <m:r>
                        <m:rPr>
                          <m:sty m:val="p"/>
                        </m:rPr>
                        <a:rPr lang="pt-BR" b="0" i="1" smtClean="0">
                          <a:latin typeface="Cambria Math" panose="02040503050406030204" pitchFamily="18" charset="0"/>
                        </a:rPr>
                        <m:t>F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sty m:val="p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k</m:t>
                          </m:r>
                          <m:r>
                            <a:rPr lang="pt-BR" i="1">
                              <a:latin typeface="Cambria Math" panose="02040503050406030204" pitchFamily="18" charset="0"/>
                            </a:rPr>
                            <m:t>+1</m:t>
                          </m:r>
                        </m:sub>
                      </m:sSub>
                      <m:r>
                        <a:rPr lang="pt-BR" b="0" i="1" smtClean="0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pt-BR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marL="139700" indent="0" algn="l">
                  <a:lnSpc>
                    <a:spcPct val="150000"/>
                  </a:lnSpc>
                </a:pPr>
                <a:endParaRPr lang="pt-BR" dirty="0"/>
              </a:p>
              <a:p>
                <a:pPr marL="139700" indent="0" algn="l">
                  <a:lnSpc>
                    <a:spcPct val="150000"/>
                  </a:lnSpc>
                </a:pPr>
                <a:r>
                  <a:rPr lang="pt-BR" dirty="0"/>
                  <a:t>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w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pt-BR" dirty="0"/>
                  <a:t> representa o ruído associado à dinâmica do sistema</a:t>
                </a: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/>
                  <a:t>Além disso, considera-se que as medições do estado também são afetadas por ruído, sendo descritas por:</a:t>
                </a:r>
              </a:p>
              <a:p>
                <a:pPr marL="139700" indent="0" algn="l">
                  <a:lnSpc>
                    <a:spcPct val="150000"/>
                  </a:lnSpc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pPr marL="139700" indent="0" algn="l"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y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 = 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x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  <m:r>
                        <a:rPr lang="pt-BR" i="1">
                          <a:latin typeface="Cambria Math" panose="02040503050406030204" pitchFamily="18" charset="0"/>
                        </a:rPr>
                        <m:t> + </m:t>
                      </m:r>
                      <m:sSub>
                        <m:sSubPr>
                          <m:ctrlPr>
                            <a:rPr lang="pt-BR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pt-BR" b="0" i="1" smtClean="0">
                              <a:latin typeface="Cambria Math" panose="02040503050406030204" pitchFamily="18" charset="0"/>
                            </a:rPr>
                            <m:t>v</m:t>
                          </m:r>
                        </m:e>
                        <m:sub>
                          <m:r>
                            <m:rPr>
                              <m:sty m:val="p"/>
                            </m:rPr>
                            <a:rPr lang="pt-BR" i="1">
                              <a:latin typeface="Cambria Math" panose="02040503050406030204" pitchFamily="18" charset="0"/>
                            </a:rPr>
                            <m:t>k</m:t>
                          </m:r>
                        </m:sub>
                      </m:sSub>
                    </m:oMath>
                  </m:oMathPara>
                </a14:m>
                <a:endParaRPr lang="pt-BR" i="1" dirty="0">
                  <a:latin typeface="Cambria Math" panose="02040503050406030204" pitchFamily="18" charset="0"/>
                </a:endParaRPr>
              </a:p>
              <a:p>
                <a:pPr marL="139700" indent="0" algn="l">
                  <a:lnSpc>
                    <a:spcPct val="150000"/>
                  </a:lnSpc>
                </a:pPr>
                <a:r>
                  <a:rPr lang="pt-BR" dirty="0"/>
                  <a:t>em que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i="1">
                            <a:latin typeface="Cambria Math" panose="02040503050406030204" pitchFamily="18" charset="0"/>
                          </a:rPr>
                          <m:t>k</m:t>
                        </m:r>
                      </m:sub>
                    </m:sSub>
                  </m:oMath>
                </a14:m>
                <a:r>
                  <a:rPr lang="pt-BR" dirty="0"/>
                  <a:t> representa o ruído de medição.</a:t>
                </a:r>
                <a:endParaRPr lang="pt-BR" i="1" dirty="0">
                  <a:latin typeface="Cambria Math" panose="02040503050406030204" pitchFamily="18" charset="0"/>
                </a:endParaRPr>
              </a:p>
              <a:p>
                <a:pPr marL="139700" indent="0" algn="l">
                  <a:lnSpc>
                    <a:spcPct val="150000"/>
                  </a:lnSpc>
                </a:pPr>
                <a:endParaRPr lang="pt-BR" i="1" dirty="0"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9BF71668-7897-8DD9-76E8-CC1D1145B66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EFDF35AB-28C8-EACF-CB1B-F975449739E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1969804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F683970E-EB05-D22F-AD8A-9458CBAD89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32BAB9CC-5B17-E5DE-8532-DF383417C0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sz="2800" dirty="0"/>
              <a:t>Parte 2 : Configuração da Simulação</a:t>
            </a:r>
            <a:endParaRPr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C68BDB77-4F10-3341-9B11-B6216E3AAA58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/>
                  <a:t>Taxa de natalidade: α = 0.03 </a:t>
                </a: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/>
                  <a:t>Taxa de mortalidade: β = 0.02</a:t>
                </a: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/>
                  <a:t>Ruído de processo: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</m:oMath>
                </a14:m>
                <a:r>
                  <a:rPr lang="pt-BR" dirty="0"/>
                  <a:t> = 0.5</a:t>
                </a: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/>
                  <a:t>Ruído de observação: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pt-BR" dirty="0"/>
                  <a:t> = 2.0</a:t>
                </a: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pPr marL="139700" indent="0" algn="l">
                  <a:lnSpc>
                    <a:spcPct val="150000"/>
                  </a:lnSpc>
                </a:pPr>
                <a:r>
                  <a:rPr lang="pt-BR" dirty="0"/>
                  <a:t>Com esses valores, a dinâmica do sistema é caracterizada por um crescimento moderado da população, dado por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= 1 +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= 1.01</m:t>
                    </m:r>
                  </m:oMath>
                </a14:m>
                <a:r>
                  <a:rPr lang="pt-BR" dirty="0"/>
                  <a:t>, indicando um </a:t>
                </a:r>
                <a:r>
                  <a:rPr lang="pt-BR" dirty="0">
                    <a:solidFill>
                      <a:srgbClr val="980000"/>
                    </a:solidFill>
                  </a:rPr>
                  <a:t>aumento gradual ao longo do tempo</a:t>
                </a:r>
                <a:r>
                  <a:rPr lang="pt-BR" dirty="0">
                    <a:solidFill>
                      <a:schemeClr val="tx1"/>
                    </a:solidFill>
                  </a:rPr>
                  <a:t>.</a:t>
                </a:r>
                <a:endParaRPr lang="pt-BR" i="1" dirty="0">
                  <a:solidFill>
                    <a:srgbClr val="98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C68BDB77-4F10-3341-9B11-B6216E3AAA58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C00584DE-E2EF-98CD-C433-F73D428FE95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4181422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F13D3B37-6DE5-AB93-D303-AE793D5A5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48919766-2C32-BA24-7312-2E74530918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sz="2800" dirty="0"/>
              <a:t>Parte 2 : Simulação do modelo populacional</a:t>
            </a:r>
            <a:endParaRPr sz="28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AAB6AF7F-424C-34F2-FEB9-892C582C4429}"/>
                  </a:ext>
                </a:extLst>
              </p:cNvPr>
              <p:cNvSpPr txBox="1">
                <a:spLocks noGrp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</p:spPr>
            <p:txBody>
              <a:bodyPr spcFirstLastPara="1" wrap="square" lIns="91425" tIns="91425" rIns="91425" bIns="91425" anchor="t" anchorCtr="0">
                <a:noAutofit/>
              </a:bodyPr>
              <a:lstStyle/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/>
                  <a:t>Taxa de natalidade: α = 0.03 </a:t>
                </a: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/>
                  <a:t>Taxa de mortalidade: β = 0.02</a:t>
                </a: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/>
                  <a:t>Ruído de processo: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w</m:t>
                        </m:r>
                      </m:sub>
                    </m:sSub>
                  </m:oMath>
                </a14:m>
                <a:r>
                  <a:rPr lang="pt-BR" dirty="0"/>
                  <a:t> = 0.5</a:t>
                </a: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r>
                  <a:rPr lang="pt-BR" dirty="0"/>
                  <a:t>Ruído de observação: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pt-BR" i="1" dirty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pt-BR" b="0" i="1" dirty="0" smtClean="0">
                            <a:latin typeface="Cambria Math" panose="02040503050406030204" pitchFamily="18" charset="0"/>
                          </a:rPr>
                          <m:t>v</m:t>
                        </m:r>
                      </m:sub>
                    </m:sSub>
                  </m:oMath>
                </a14:m>
                <a:r>
                  <a:rPr lang="pt-BR" dirty="0"/>
                  <a:t> = 2.0</a:t>
                </a: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pPr marL="425450" indent="-285750" algn="l">
                  <a:lnSpc>
                    <a:spcPct val="150000"/>
                  </a:lnSpc>
                  <a:buFont typeface="Wingdings" panose="05000000000000000000" pitchFamily="2" charset="2"/>
                  <a:buChar char="q"/>
                </a:pPr>
                <a:endParaRPr lang="pt-BR" i="1" dirty="0">
                  <a:latin typeface="Cambria Math" panose="02040503050406030204" pitchFamily="18" charset="0"/>
                </a:endParaRPr>
              </a:p>
              <a:p>
                <a:pPr marL="139700" indent="0" algn="l">
                  <a:lnSpc>
                    <a:spcPct val="150000"/>
                  </a:lnSpc>
                </a:pPr>
                <a:r>
                  <a:rPr lang="pt-BR" dirty="0"/>
                  <a:t>Com esses valores, a dinâmica do sistema é caracterizada por um crescimento moderado da população, dado por </a:t>
                </a:r>
                <a14:m>
                  <m:oMath xmlns:m="http://schemas.openxmlformats.org/officeDocument/2006/math">
                    <m:r>
                      <a:rPr lang="pt-BR" i="1" dirty="0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= 1 +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𝛼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− 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pt-BR" i="1" dirty="0" smtClean="0">
                        <a:latin typeface="Cambria Math" panose="02040503050406030204" pitchFamily="18" charset="0"/>
                      </a:rPr>
                      <m:t> = 1.01</m:t>
                    </m:r>
                  </m:oMath>
                </a14:m>
                <a:r>
                  <a:rPr lang="pt-BR" dirty="0"/>
                  <a:t>, indicando um </a:t>
                </a:r>
                <a:r>
                  <a:rPr lang="pt-BR" dirty="0">
                    <a:solidFill>
                      <a:srgbClr val="980000"/>
                    </a:solidFill>
                  </a:rPr>
                  <a:t>aumento gradual ao longo do tempo</a:t>
                </a:r>
                <a:r>
                  <a:rPr lang="pt-BR" dirty="0">
                    <a:solidFill>
                      <a:schemeClr val="tx1"/>
                    </a:solidFill>
                  </a:rPr>
                  <a:t>.</a:t>
                </a:r>
                <a:endParaRPr lang="pt-BR" i="1" dirty="0">
                  <a:solidFill>
                    <a:srgbClr val="980000"/>
                  </a:solidFill>
                  <a:latin typeface="Cambria Math" panose="02040503050406030204" pitchFamily="18" charset="0"/>
                </a:endParaRPr>
              </a:p>
            </p:txBody>
          </p:sp>
        </mc:Choice>
        <mc:Fallback>
          <p:sp>
            <p:nvSpPr>
              <p:cNvPr id="321" name="Google Shape;321;p36">
                <a:extLst>
                  <a:ext uri="{FF2B5EF4-FFF2-40B4-BE49-F238E27FC236}">
                    <a16:creationId xmlns:a16="http://schemas.microsoft.com/office/drawing/2014/main" id="{AAB6AF7F-424C-34F2-FEB9-892C582C4429}"/>
                  </a:ext>
                </a:extLst>
              </p:cNvPr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713250" y="1217050"/>
                <a:ext cx="7717500" cy="35751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4269A480-69DE-3D3F-0A9B-F6D71280BB5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04241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8FF49A1A-ACEB-BF9E-E198-A62755CE1E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0DDC4D23-6531-55D4-7A6C-7C23B32E22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2 : Formulação ajuste linear</a:t>
            </a:r>
            <a:endParaRPr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15694779-CF5E-A030-2CB3-4EC48F21290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pt-BR" dirty="0">
              <a:solidFill>
                <a:schemeClr val="tx1"/>
              </a:solidFill>
            </a:endParaRPr>
          </a:p>
          <a:p>
            <a:pPr marL="425450" lvl="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pt-BR" dirty="0">
              <a:solidFill>
                <a:srgbClr val="980000"/>
              </a:solidFill>
            </a:endParaRPr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35F175AF-1F95-5C50-E188-5AFB2A50899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BBC7394-0718-273C-055A-646873188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25" y="1549399"/>
            <a:ext cx="4682396" cy="2565401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B65E3367-1723-5F79-F0C2-F53B2E0081C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9134" y="2066870"/>
            <a:ext cx="2111591" cy="307005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3637CBB3-2B70-1986-23A6-7FD08ADB21A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19134" y="2901921"/>
            <a:ext cx="2111591" cy="345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0931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1825B2F4-1810-EDF3-AE1E-6A1699984B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5B6ABD08-0A80-C913-D1B6-10E8FD15A4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dirty="0"/>
              <a:t>Parte 2 : Aplicação do Filtro de </a:t>
            </a:r>
            <a:r>
              <a:rPr lang="pt-BR" dirty="0" err="1"/>
              <a:t>Kalman</a:t>
            </a:r>
            <a:endParaRPr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51F0B6A6-52C3-CDA6-58AF-FBB07342975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9799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254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dirty="0"/>
              <a:t>Do ponto de vista quantitativo, o desempenho foi avaliado por meio do NRMSE, considerando 1000 realizações independentes. Obteve-se:</a:t>
            </a:r>
          </a:p>
          <a:p>
            <a:pPr marL="4254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pt-BR" dirty="0">
              <a:solidFill>
                <a:schemeClr val="tx1"/>
              </a:solidFill>
            </a:endParaRPr>
          </a:p>
          <a:p>
            <a:pPr marL="4254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pt-BR" dirty="0">
              <a:solidFill>
                <a:schemeClr val="tx1"/>
              </a:solidFill>
            </a:endParaRPr>
          </a:p>
          <a:p>
            <a:pPr marL="4254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pt-BR" dirty="0">
              <a:solidFill>
                <a:schemeClr val="tx1"/>
              </a:solidFill>
            </a:endParaRPr>
          </a:p>
          <a:p>
            <a:pPr marL="4254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pt-BR" dirty="0">
              <a:solidFill>
                <a:schemeClr val="tx1"/>
              </a:solidFill>
            </a:endParaRPr>
          </a:p>
          <a:p>
            <a:pPr marL="4254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pt-BR" dirty="0">
              <a:solidFill>
                <a:schemeClr val="tx1"/>
              </a:solidFill>
            </a:endParaRPr>
          </a:p>
          <a:p>
            <a:pPr marL="4254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pt-BR" dirty="0">
              <a:solidFill>
                <a:schemeClr val="tx1"/>
              </a:solidFill>
            </a:endParaRPr>
          </a:p>
          <a:p>
            <a:pPr marL="4254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pt-BR" dirty="0">
              <a:solidFill>
                <a:schemeClr val="tx1"/>
              </a:solidFill>
            </a:endParaRPr>
          </a:p>
          <a:p>
            <a:pPr marL="425450" indent="-285750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dirty="0"/>
              <a:t>Comparando com o erro médio das medições observa-se uma redução de aproximadamente 52% no erro.</a:t>
            </a:r>
            <a:endParaRPr lang="pt-BR" dirty="0">
              <a:solidFill>
                <a:srgbClr val="980000"/>
              </a:solidFill>
            </a:endParaRPr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E96646FA-A298-B072-8CC7-915676EDCCB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70CA47EA-DBEB-7D9A-7CC8-2585D97FF4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25" y="2030691"/>
            <a:ext cx="3903225" cy="207883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943C621-CA6E-0CF6-EB42-2AA4F46502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51348" y="2106891"/>
            <a:ext cx="2165552" cy="2991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4742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9">
          <a:extLst>
            <a:ext uri="{FF2B5EF4-FFF2-40B4-BE49-F238E27FC236}">
              <a16:creationId xmlns:a16="http://schemas.microsoft.com/office/drawing/2014/main" id="{54D64DA3-98B2-13E9-F7FE-BB3CB9E372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36">
            <a:extLst>
              <a:ext uri="{FF2B5EF4-FFF2-40B4-BE49-F238E27FC236}">
                <a16:creationId xmlns:a16="http://schemas.microsoft.com/office/drawing/2014/main" id="{61DE2C2C-1EFE-F615-C2A5-CC93C77117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l"/>
            <a:r>
              <a:rPr lang="pt-BR" sz="2000" dirty="0"/>
              <a:t>Conclusões</a:t>
            </a:r>
            <a:endParaRPr sz="2000" dirty="0"/>
          </a:p>
        </p:txBody>
      </p:sp>
      <p:sp>
        <p:nvSpPr>
          <p:cNvPr id="321" name="Google Shape;321;p36">
            <a:extLst>
              <a:ext uri="{FF2B5EF4-FFF2-40B4-BE49-F238E27FC236}">
                <a16:creationId xmlns:a16="http://schemas.microsoft.com/office/drawing/2014/main" id="{A27E775F-B16B-F7CA-2963-7E6340D6B6B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713250" y="1217050"/>
            <a:ext cx="7717500" cy="357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tx1"/>
                </a:solidFill>
              </a:rPr>
              <a:t>Resultados Quantitativos</a:t>
            </a:r>
          </a:p>
          <a:p>
            <a:pPr lvl="1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tx1"/>
                </a:solidFill>
              </a:rPr>
              <a:t>Redução de aproximadamente 92% no erro (modelo de preços) </a:t>
            </a:r>
          </a:p>
          <a:p>
            <a:pPr lvl="1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tx1"/>
                </a:solidFill>
              </a:rPr>
              <a:t>Redução de aproximadamente 52% no erro (modelo populacional) </a:t>
            </a:r>
          </a:p>
          <a:p>
            <a:pPr lvl="1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tx1"/>
                </a:solidFill>
              </a:rPr>
              <a:t>Estimativas acompanharam bem a dinâmica real do sistema</a:t>
            </a:r>
          </a:p>
          <a:p>
            <a:pPr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tx1"/>
                </a:solidFill>
              </a:rPr>
              <a:t>Aspectos Teóricos</a:t>
            </a:r>
          </a:p>
          <a:p>
            <a:pPr lvl="1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tx1"/>
                </a:solidFill>
              </a:rPr>
              <a:t>Formulações </a:t>
            </a:r>
            <a:r>
              <a:rPr lang="pt-BR" dirty="0">
                <a:solidFill>
                  <a:srgbClr val="980000"/>
                </a:solidFill>
              </a:rPr>
              <a:t>filtrada e preditivo-corretiva </a:t>
            </a:r>
            <a:r>
              <a:rPr lang="pt-BR" dirty="0">
                <a:solidFill>
                  <a:schemeClr val="tx1"/>
                </a:solidFill>
              </a:rPr>
              <a:t>são equivalentes</a:t>
            </a:r>
          </a:p>
          <a:p>
            <a:pPr lvl="1" algn="l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pt-BR" dirty="0">
                <a:solidFill>
                  <a:schemeClr val="tx1"/>
                </a:solidFill>
              </a:rPr>
              <a:t>Diferença apenas na forma de apresentação do algoritmo</a:t>
            </a:r>
            <a:endParaRPr lang="pt-BR" dirty="0">
              <a:solidFill>
                <a:srgbClr val="980000"/>
              </a:solidFill>
            </a:endParaRPr>
          </a:p>
        </p:txBody>
      </p:sp>
      <p:sp>
        <p:nvSpPr>
          <p:cNvPr id="322" name="Google Shape;322;p36">
            <a:extLst>
              <a:ext uri="{FF2B5EF4-FFF2-40B4-BE49-F238E27FC236}">
                <a16:creationId xmlns:a16="http://schemas.microsoft.com/office/drawing/2014/main" id="{0BB98370-0B9B-31A0-F44F-1B661F000CA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6704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7" name="Google Shape;437;p51"/>
          <p:cNvGrpSpPr/>
          <p:nvPr/>
        </p:nvGrpSpPr>
        <p:grpSpPr>
          <a:xfrm>
            <a:off x="0" y="-150"/>
            <a:ext cx="9144000" cy="2572200"/>
            <a:chOff x="0" y="-150"/>
            <a:chExt cx="9144000" cy="2572200"/>
          </a:xfrm>
        </p:grpSpPr>
        <p:sp>
          <p:nvSpPr>
            <p:cNvPr id="438" name="Google Shape;438;p51"/>
            <p:cNvSpPr/>
            <p:nvPr/>
          </p:nvSpPr>
          <p:spPr>
            <a:xfrm>
              <a:off x="0" y="1649975"/>
              <a:ext cx="9144000" cy="574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439" name="Google Shape;439;p51"/>
            <p:cNvCxnSpPr/>
            <p:nvPr/>
          </p:nvCxnSpPr>
          <p:spPr>
            <a:xfrm rot="10800000">
              <a:off x="8430313" y="-150"/>
              <a:ext cx="0" cy="257220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440" name="Google Shape;440;p51"/>
          <p:cNvSpPr txBox="1">
            <a:spLocks noGrp="1"/>
          </p:cNvSpPr>
          <p:nvPr>
            <p:ph type="title"/>
          </p:nvPr>
        </p:nvSpPr>
        <p:spPr>
          <a:xfrm>
            <a:off x="2654700" y="530250"/>
            <a:ext cx="3834600" cy="1108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Obrigado!</a:t>
            </a:r>
            <a:endParaRPr/>
          </a:p>
        </p:txBody>
      </p:sp>
      <p:sp>
        <p:nvSpPr>
          <p:cNvPr id="441" name="Google Shape;441;p51"/>
          <p:cNvSpPr txBox="1">
            <a:spLocks noGrp="1"/>
          </p:cNvSpPr>
          <p:nvPr>
            <p:ph type="subTitle" idx="1"/>
          </p:nvPr>
        </p:nvSpPr>
        <p:spPr>
          <a:xfrm>
            <a:off x="2654700" y="2312156"/>
            <a:ext cx="3834600" cy="972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0" i="1"/>
              <a:t>jvnramos.ppgmc@uesc.br </a:t>
            </a:r>
            <a:endParaRPr b="0" i="1"/>
          </a:p>
          <a:p>
            <a:pPr marL="0" lvl="0" indent="0" algn="ctr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b="0"/>
              <a:t>(73) 98100-9731 </a:t>
            </a:r>
            <a:endParaRPr b="0"/>
          </a:p>
        </p:txBody>
      </p:sp>
      <p:sp>
        <p:nvSpPr>
          <p:cNvPr id="442" name="Google Shape;442;p51"/>
          <p:cNvSpPr txBox="1"/>
          <p:nvPr/>
        </p:nvSpPr>
        <p:spPr>
          <a:xfrm>
            <a:off x="2572500" y="3300000"/>
            <a:ext cx="4170000" cy="1108200"/>
          </a:xfrm>
          <a:prstGeom prst="rect">
            <a:avLst/>
          </a:prstGeom>
          <a:solidFill>
            <a:srgbClr val="F9F9F9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  <p:sp>
        <p:nvSpPr>
          <p:cNvPr id="443" name="Google Shape;443;p51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sp>
        <p:nvSpPr>
          <p:cNvPr id="444" name="Google Shape;444;p51"/>
          <p:cNvSpPr txBox="1"/>
          <p:nvPr/>
        </p:nvSpPr>
        <p:spPr>
          <a:xfrm>
            <a:off x="3410025" y="1638450"/>
            <a:ext cx="2430300" cy="59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Perguntas?</a:t>
            </a:r>
            <a:endParaRPr sz="2500">
              <a:solidFill>
                <a:schemeClr val="dk1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5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1257</TotalTime>
  <Words>1129</Words>
  <Application>Microsoft Office PowerPoint</Application>
  <PresentationFormat>Apresentação na tela (16:9)</PresentationFormat>
  <Paragraphs>192</Paragraphs>
  <Slides>25</Slides>
  <Notes>25</Notes>
  <HiddenSlides>0</HiddenSlides>
  <MMClips>1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25</vt:i4>
      </vt:variant>
    </vt:vector>
  </HeadingPairs>
  <TitlesOfParts>
    <vt:vector size="34" baseType="lpstr">
      <vt:lpstr>Cambria Math</vt:lpstr>
      <vt:lpstr>Golos Text</vt:lpstr>
      <vt:lpstr>Golos Text SemiBold</vt:lpstr>
      <vt:lpstr>Wingdings</vt:lpstr>
      <vt:lpstr>Arial</vt:lpstr>
      <vt:lpstr>Red Hat Display</vt:lpstr>
      <vt:lpstr>Commissioner</vt:lpstr>
      <vt:lpstr>Chivo</vt:lpstr>
      <vt:lpstr>Formulating a Research Problem for University Students by Slidesgo</vt:lpstr>
      <vt:lpstr>            Teoria da Estimação Trabalho 2 </vt:lpstr>
      <vt:lpstr>Visão Geral do Projeto</vt:lpstr>
      <vt:lpstr>Ferramentas de Implementação</vt:lpstr>
      <vt:lpstr>Parte 1 : Modelo Estocástico para Preços</vt:lpstr>
      <vt:lpstr>Parte 1 : Configuração da Simulação</vt:lpstr>
      <vt:lpstr>Parte 1 : Trajetória determinística e a estocástica</vt:lpstr>
      <vt:lpstr>Parte 1 : Análise do Erro de Processo</vt:lpstr>
      <vt:lpstr>Parte 1 : Influência da Semente do Gerador Pseudoaleatório</vt:lpstr>
      <vt:lpstr>Parte 1 : Análise Estatística com Múltiplas Simulações</vt:lpstr>
      <vt:lpstr>Parte 1 : Influência da Intensidade do Ruído de Processo</vt:lpstr>
      <vt:lpstr>Parte 1 : Modelo de Observação e Análise das Medições</vt:lpstr>
      <vt:lpstr>Parte 1 : Comparação entre Estado Real e Medições</vt:lpstr>
      <vt:lpstr>Parte 1 : Análise do Erro de Medição</vt:lpstr>
      <vt:lpstr>Parte 1 : Estimativa Ótima Filtrada</vt:lpstr>
      <vt:lpstr>Parte 1 : Estimativa Preditiva</vt:lpstr>
      <vt:lpstr>Parte 1 : Estimativa Preditiva-Corretiva</vt:lpstr>
      <vt:lpstr>Parte 2 : Modelo Populacional </vt:lpstr>
      <vt:lpstr>Parte 2 : Modelagem no espaço de estados</vt:lpstr>
      <vt:lpstr>Parte 2 : Modelagem no espaço de estados</vt:lpstr>
      <vt:lpstr>Parte 2 : Configuração da Simulação</vt:lpstr>
      <vt:lpstr>Parte 2 : Simulação do modelo populacional</vt:lpstr>
      <vt:lpstr>Parte 2 : Formulação ajuste linear</vt:lpstr>
      <vt:lpstr>Parte 2 : Aplicação do Filtro de Kalman</vt:lpstr>
      <vt:lpstr>Conclusões</vt:lpstr>
      <vt:lpstr>Obrigado!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Joao Ramos</dc:creator>
  <cp:lastModifiedBy>João Vitor</cp:lastModifiedBy>
  <cp:revision>8</cp:revision>
  <dcterms:modified xsi:type="dcterms:W3CDTF">2026-04-29T02:54:36Z</dcterms:modified>
</cp:coreProperties>
</file>